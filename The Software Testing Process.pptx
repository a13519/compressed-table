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walk through the software testing process end to end: from understanding requirements, through planning, designing and running tests, to managing defects and closing out. We finish by untangling three terms people often mix up: tester, QA and QC. There is a hands-on exercise near the end, so keep a pen handy.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parts. Sections two to seven follow the Software Testing Life Cycle in order, then we compare the roles of tester, QA and QC, and finish with a group exercise that uses everything we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testing principles from the ISTQB Foundation syllabus. Ask the room which one they have seen most often in practice. Usually it is defect clustering or the pesticide paradox. The point: because we cannot test everything, we need a process that decides where to spend effort. That is what the rest of the session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Software Testing Life Cycle, or STLC. Six phases, each with an output that feeds the next. Every phase also has entry criteria (what must be ready before we start) and exit criteria (what must be true before we move on). Defect management is not a separate phase at the end: it runs in parallel with execution. In agile teams these phases still happen, just compressed into every sprint rather than once per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 analysis, sometimes called requirement gathering from the tester's side. The tester's job here is not to write requirements but to read them critically. Every question asked now is a defect that never gets coded. Useful sources: business requirement documents, software requirement specifications, user stories with acceptance criteria, wireframes, and conversations with the product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exercise: ask the room to rewrite a vague requirement from their own project. Words to watch for: fast, easy, user-friendly, robust, should, etc., and so on. If a requirement cannot fail, it cannot be tested. The numbers on the right are an illustration; the real values come from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RTM works in two directions. Forward: from a requirement you can see which tests cover it. Backward: from a failed test or defect you can see which requirement is at risk. When a requirement changes, the RTM tells you exactly which test cases to update. In tools like Jira, TestRail or Azure DevOps this is usually done with links rather than a spreadsheet, but the idea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plan is the contract between the test team and the rest of the project. It does not need to be a 50-page document; in agile teams it may be a single page per release. What matters is that these eight questions have answers everyone agrees on. Spend a moment on entry and exit criteria: an example exit criterion is "all high-priority test cases executed, no open critical defects, and requirement coverage at the agreed level". Risk-based testing lives here too: test the riskiest areas first and deepest.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Levels answer "at what scope do we test"; types answer "what quality are we checking". The plan should say which types apply at which levels. Mention the test pyramid: many fast unit tests at the bottom, fewer integration tests, and a small number of slow end-to-end tests at the top. Smoke testing checks that a build is stable enough to test at all; regression testing checks that changes did not break what used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development, also called test design, turns the requirements and the plan into concrete test cases, test data and automation scripts. Techniques matter because exhaustive testing is impossible: they give a small set of tests with the highest chance of finding defects. Black-box techniques are the tester's daily tools. White-box coverage is mostly measured by developers with coverage tools. Experience-based techniques complement both; exploratory testing often finds the bugs the scripted tests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slowly. Equivalence partitioning says every value in a partition behaves the same way, so one representative per partition is enough. Boundary value analysis adds the values on each side of every edge, because off-by-one errors (using less-than instead of less-than-or-equal) are among the most common bugs. Ask the room: what other invalid inputs would you try? Expect answers like blank, minus one, 18.5, letters, very large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test case traces back to REQ-02 in the traceability matrix we saw earlier. Point out the expected result: it is specific and observable, so any tester would reach the same pass or fail verdict. Alongside test cases, this phase also prepares test data and, where it pays off, automation scripts. Test cases should be peer reviewed before execution, just like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execution the environment must be ready: that is the environment setup phase, and its exit is a passing smoke test. If the smoke test fails, the build goes back; there is no point running hundreds of tests on a broken build. Execute high-priority tests first so that if time runs out, the most important risks are already covered. Record evidence: screenshots, logs, the build number. "Blocked" is not the same as "Failed": a blocked test says nothing about the feature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turn test results into decisions. Report them daily or per sprint during execution. A warning about metrics: a high pass rate on a small number of executed tests means little, so always show progress and pass rate together. Defect leakage is only known after release, which is why it feeds the lessons-learned step at closure. Keep the set small: five well-understood numbers beat twenty that nobody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typical defect lifecycle; the exact state names vary by tool (Jira, Azure DevOps, Bugzilla), but the flow is the same. The happy path runs left to right. Two exits matter: at triage a defect can be rejected (not a bug, works as designed), marked duplicate, or deferred to a later release. And if the retest fails, the defect is reopened and goes back to the developer. A high reopen rate is a useful signal: it usually means unclear bug reports or rushed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is simple: could a developer who has never seen this bug reproduce it from the report alone? The most common reason defects bounce back as "cannot reproduce" is missing environment details or vague steps. Keep the tone factual; a bug report describes the product, not the person who wrote the code. Note how this report links back to TC-004 and REQ-02, closing the traceability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common interview questions, and one of the most common sources of argument in triage meetings. Severity is a technical judgement about impact; priority is a business decision about order. The misspelled company name is the classic example: technically trivial, but embarrassing on the most visited page, so it jumps the queue. Ask the room for an example of each quadrant from their own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closure is the phase teams most often skip, and the one that makes the next cycle cheaper. The summary report is for stakeholders: it should let a manager make a release decision without reading any test cases. Testers recommend; the business decides whether to ship with known risks. The retrospective asks: which defects escaped, why, and what do we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first: which of these do you face today? Then reveal the slide. None of these are solved by tools alone. "Three amigos" means a business person, a developer and a tester reviewing a story together before development starts. Shifting testing left, meaning earlier in the lifecycle, addresses several of these at once: fewer late surprises, less time pressure at the end, and better shared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nesting is the key idea. Testing is one activity inside quality control, and quality control is one part of quality assurance. QA is proactive and process-oriented: it tries to stop defects being introduced in the first place. QC is reactive and product-oriented: it finds defects in what has been built. A tester performs the testing activity. Everyone on the team contributes to QA, not only people with QA in their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way to remember it: QA asks "are we doing things right?", QC asks "did we get the right result?", and testing is how QC finds out. An analogy: in a restaurant, QA is the recipe, hygiene rules and staff training; QC is the head chef checking each plate before it leaves the kitchen; testing is tasting the sauce. In most software companies the titles overlap, so focus on the activity rather than the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for the facilitator. Questions: Is the email case-sensitive? Does the lock counter reset after a successful login? What message shows while locked? Can an admin unlock the account? Is there a password reset option while locked? Partitions for password length: below 8 (invalid), 8 to 20 (valid), above 20 (invalid); boundaries 7, 8, 20, 21; plus empty. The bug report should include browser and OS version, the build, steps, expected versus actual, and a screenshot or console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one line per section. If time allows, ask each participant to name one thing they will change in their team's process next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The prompt on the slide works well to start discussion if nobody has a question ready. Share the deck afterwards so people can reuse the templates for the test case, bug report and traceability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767" y="812767"/>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863"/>
                </a:solidFill>
                <a:latin typeface="JetBrains Mono" pitchFamily="34" charset="0"/>
                <a:ea typeface="JetBrains Mono" pitchFamily="34" charset="-122"/>
                <a:cs typeface="JetBrains Mono" pitchFamily="34" charset="-120"/>
              </a:rPr>
              <a:t>WORKSHOP · SOFTWARE QUALITY</a:t>
            </a:r>
            <a:endParaRPr lang="en-US" sz="1200" dirty="0"/>
          </a:p>
        </p:txBody>
      </p:sp>
      <p:sp>
        <p:nvSpPr>
          <p:cNvPr id="3" name="Text 1"/>
          <p:cNvSpPr/>
          <p:nvPr/>
        </p:nvSpPr>
        <p:spPr>
          <a:xfrm>
            <a:off x="812767" y="2316551"/>
            <a:ext cx="10883445" cy="825455"/>
          </a:xfrm>
          <a:prstGeom prst="rect">
            <a:avLst/>
          </a:prstGeom>
          <a:noFill/>
          <a:ln/>
        </p:spPr>
        <p:txBody>
          <a:bodyPr wrap="square" lIns="0" tIns="0" rIns="0" bIns="0" rtlCol="0" anchor="t">
            <a:normAutofit/>
          </a:bodyPr>
          <a:lstStyle/>
          <a:p>
            <a:pPr algn="l" indent="0" marL="0">
              <a:lnSpc>
                <a:spcPts val="6300"/>
              </a:lnSpc>
              <a:buNone/>
            </a:pPr>
            <a:r>
              <a:rPr lang="en-US" sz="6000" b="1" spc="-100" kern="0" dirty="0">
                <a:solidFill>
                  <a:srgbClr val="F6F4EF"/>
                </a:solidFill>
                <a:latin typeface="Space Grotesk" pitchFamily="34" charset="0"/>
                <a:ea typeface="Space Grotesk" pitchFamily="34" charset="-122"/>
                <a:cs typeface="Space Grotesk" pitchFamily="34" charset="-120"/>
              </a:rPr>
              <a:t>The Software Testing Process</a:t>
            </a:r>
            <a:endParaRPr lang="en-US" sz="6000" dirty="0"/>
          </a:p>
        </p:txBody>
      </p:sp>
      <p:sp>
        <p:nvSpPr>
          <p:cNvPr id="4" name="Text 2"/>
          <p:cNvSpPr/>
          <p:nvPr/>
        </p:nvSpPr>
        <p:spPr>
          <a:xfrm>
            <a:off x="812767" y="3319797"/>
            <a:ext cx="8633446" cy="665499"/>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1DC"/>
                </a:solidFill>
                <a:latin typeface="IBM Plex Sans" pitchFamily="34" charset="0"/>
                <a:ea typeface="IBM Plex Sans" pitchFamily="34" charset="-122"/>
                <a:cs typeface="IBM Plex Sans" pitchFamily="34" charset="-120"/>
              </a:rPr>
              <a:t>From requirements to release: how testing is planned, built, run and managed, and who owns quality.</a:t>
            </a:r>
            <a:endParaRPr lang="en-US" sz="1800" dirty="0"/>
          </a:p>
        </p:txBody>
      </p:sp>
      <p:sp>
        <p:nvSpPr>
          <p:cNvPr id="5" name="Shape 3"/>
          <p:cNvSpPr/>
          <p:nvPr/>
        </p:nvSpPr>
        <p:spPr>
          <a:xfrm>
            <a:off x="812767" y="5250291"/>
            <a:ext cx="1676383" cy="38068"/>
          </a:xfrm>
          <a:prstGeom prst="roundRect">
            <a:avLst>
              <a:gd name="adj" fmla="val 50000"/>
            </a:avLst>
          </a:prstGeom>
          <a:solidFill>
            <a:srgbClr val="F29863"/>
          </a:solidFill>
          <a:ln/>
        </p:spPr>
      </p:sp>
      <p:sp>
        <p:nvSpPr>
          <p:cNvPr id="6" name="Text 4"/>
          <p:cNvSpPr/>
          <p:nvPr/>
        </p:nvSpPr>
        <p:spPr>
          <a:xfrm>
            <a:off x="812767" y="5364530"/>
            <a:ext cx="1727183"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C"/>
                </a:solidFill>
                <a:latin typeface="JetBrains Mono" pitchFamily="34" charset="0"/>
                <a:ea typeface="JetBrains Mono" pitchFamily="34" charset="-122"/>
                <a:cs typeface="JetBrains Mono" pitchFamily="34" charset="-120"/>
              </a:rPr>
              <a:t>Requirements</a:t>
            </a:r>
            <a:endParaRPr lang="en-US" sz="1200" dirty="0"/>
          </a:p>
        </p:txBody>
      </p:sp>
      <p:sp>
        <p:nvSpPr>
          <p:cNvPr id="7" name="Shape 5"/>
          <p:cNvSpPr/>
          <p:nvPr/>
        </p:nvSpPr>
        <p:spPr>
          <a:xfrm>
            <a:off x="2590746" y="5250291"/>
            <a:ext cx="1676418" cy="38068"/>
          </a:xfrm>
          <a:prstGeom prst="roundRect">
            <a:avLst>
              <a:gd name="adj" fmla="val 50000"/>
            </a:avLst>
          </a:prstGeom>
          <a:solidFill>
            <a:srgbClr val="F29863"/>
          </a:solidFill>
          <a:ln/>
        </p:spPr>
      </p:sp>
      <p:sp>
        <p:nvSpPr>
          <p:cNvPr id="8" name="Text 6"/>
          <p:cNvSpPr/>
          <p:nvPr/>
        </p:nvSpPr>
        <p:spPr>
          <a:xfrm>
            <a:off x="2590746" y="5364530"/>
            <a:ext cx="172721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C"/>
                </a:solidFill>
                <a:latin typeface="JetBrains Mono" pitchFamily="34" charset="0"/>
                <a:ea typeface="JetBrains Mono" pitchFamily="34" charset="-122"/>
                <a:cs typeface="JetBrains Mono" pitchFamily="34" charset="-120"/>
              </a:rPr>
              <a:t>Planning</a:t>
            </a:r>
            <a:endParaRPr lang="en-US" sz="1200" dirty="0"/>
          </a:p>
        </p:txBody>
      </p:sp>
      <p:sp>
        <p:nvSpPr>
          <p:cNvPr id="9" name="Shape 7"/>
          <p:cNvSpPr/>
          <p:nvPr/>
        </p:nvSpPr>
        <p:spPr>
          <a:xfrm>
            <a:off x="4368760" y="5250291"/>
            <a:ext cx="1676418" cy="38068"/>
          </a:xfrm>
          <a:prstGeom prst="roundRect">
            <a:avLst>
              <a:gd name="adj" fmla="val 50000"/>
            </a:avLst>
          </a:prstGeom>
          <a:solidFill>
            <a:srgbClr val="F29863"/>
          </a:solidFill>
          <a:ln/>
        </p:spPr>
      </p:sp>
      <p:sp>
        <p:nvSpPr>
          <p:cNvPr id="10" name="Text 8"/>
          <p:cNvSpPr/>
          <p:nvPr/>
        </p:nvSpPr>
        <p:spPr>
          <a:xfrm>
            <a:off x="4368760" y="5364530"/>
            <a:ext cx="172721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C"/>
                </a:solidFill>
                <a:latin typeface="JetBrains Mono" pitchFamily="34" charset="0"/>
                <a:ea typeface="JetBrains Mono" pitchFamily="34" charset="-122"/>
                <a:cs typeface="JetBrains Mono" pitchFamily="34" charset="-120"/>
              </a:rPr>
              <a:t>Development</a:t>
            </a:r>
            <a:endParaRPr lang="en-US" sz="1200" dirty="0"/>
          </a:p>
        </p:txBody>
      </p:sp>
      <p:sp>
        <p:nvSpPr>
          <p:cNvPr id="11" name="Shape 9"/>
          <p:cNvSpPr/>
          <p:nvPr/>
        </p:nvSpPr>
        <p:spPr>
          <a:xfrm>
            <a:off x="6146774" y="5250291"/>
            <a:ext cx="1676418" cy="38068"/>
          </a:xfrm>
          <a:prstGeom prst="roundRect">
            <a:avLst>
              <a:gd name="adj" fmla="val 50000"/>
            </a:avLst>
          </a:prstGeom>
          <a:solidFill>
            <a:srgbClr val="F29863"/>
          </a:solidFill>
          <a:ln/>
        </p:spPr>
      </p:sp>
      <p:sp>
        <p:nvSpPr>
          <p:cNvPr id="12" name="Text 10"/>
          <p:cNvSpPr/>
          <p:nvPr/>
        </p:nvSpPr>
        <p:spPr>
          <a:xfrm>
            <a:off x="6146774" y="5364530"/>
            <a:ext cx="172721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C"/>
                </a:solidFill>
                <a:latin typeface="JetBrains Mono" pitchFamily="34" charset="0"/>
                <a:ea typeface="JetBrains Mono" pitchFamily="34" charset="-122"/>
                <a:cs typeface="JetBrains Mono" pitchFamily="34" charset="-120"/>
              </a:rPr>
              <a:t>Execution</a:t>
            </a:r>
            <a:endParaRPr lang="en-US" sz="1200" dirty="0"/>
          </a:p>
        </p:txBody>
      </p:sp>
      <p:sp>
        <p:nvSpPr>
          <p:cNvPr id="13" name="Shape 11"/>
          <p:cNvSpPr/>
          <p:nvPr/>
        </p:nvSpPr>
        <p:spPr>
          <a:xfrm>
            <a:off x="7924788" y="5250291"/>
            <a:ext cx="1676418" cy="38068"/>
          </a:xfrm>
          <a:prstGeom prst="roundRect">
            <a:avLst>
              <a:gd name="adj" fmla="val 50000"/>
            </a:avLst>
          </a:prstGeom>
          <a:solidFill>
            <a:srgbClr val="F29863"/>
          </a:solidFill>
          <a:ln/>
        </p:spPr>
      </p:sp>
      <p:sp>
        <p:nvSpPr>
          <p:cNvPr id="14" name="Text 12"/>
          <p:cNvSpPr/>
          <p:nvPr/>
        </p:nvSpPr>
        <p:spPr>
          <a:xfrm>
            <a:off x="7924788" y="5364530"/>
            <a:ext cx="172721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C"/>
                </a:solidFill>
                <a:latin typeface="JetBrains Mono" pitchFamily="34" charset="0"/>
                <a:ea typeface="JetBrains Mono" pitchFamily="34" charset="-122"/>
                <a:cs typeface="JetBrains Mono" pitchFamily="34" charset="-120"/>
              </a:rPr>
              <a:t>Defects</a:t>
            </a:r>
            <a:endParaRPr lang="en-US" sz="1200" dirty="0"/>
          </a:p>
        </p:txBody>
      </p:sp>
      <p:sp>
        <p:nvSpPr>
          <p:cNvPr id="15" name="Shape 13"/>
          <p:cNvSpPr/>
          <p:nvPr/>
        </p:nvSpPr>
        <p:spPr>
          <a:xfrm>
            <a:off x="9702801" y="5250291"/>
            <a:ext cx="1676418" cy="38068"/>
          </a:xfrm>
          <a:prstGeom prst="roundRect">
            <a:avLst>
              <a:gd name="adj" fmla="val 50000"/>
            </a:avLst>
          </a:prstGeom>
          <a:solidFill>
            <a:srgbClr val="F29863"/>
          </a:solidFill>
          <a:ln/>
        </p:spPr>
      </p:sp>
      <p:sp>
        <p:nvSpPr>
          <p:cNvPr id="16" name="Text 14"/>
          <p:cNvSpPr/>
          <p:nvPr/>
        </p:nvSpPr>
        <p:spPr>
          <a:xfrm>
            <a:off x="9702801" y="5364530"/>
            <a:ext cx="172721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C"/>
                </a:solidFill>
                <a:latin typeface="JetBrains Mono" pitchFamily="34" charset="0"/>
                <a:ea typeface="JetBrains Mono" pitchFamily="34" charset="-122"/>
                <a:cs typeface="JetBrains Mono" pitchFamily="34" charset="-120"/>
              </a:rPr>
              <a:t>Closure</a:t>
            </a:r>
            <a:endParaRPr lang="en-US" sz="1200" dirty="0"/>
          </a:p>
        </p:txBody>
      </p:sp>
      <p:sp>
        <p:nvSpPr>
          <p:cNvPr id="17" name="Text 15"/>
          <p:cNvSpPr/>
          <p:nvPr/>
        </p:nvSpPr>
        <p:spPr>
          <a:xfrm>
            <a:off x="812767" y="5831858"/>
            <a:ext cx="1088344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C"/>
                </a:solidFill>
                <a:latin typeface="IBM Plex Sans" pitchFamily="34" charset="0"/>
                <a:ea typeface="IBM Plex Sans" pitchFamily="34" charset="-122"/>
                <a:cs typeface="IBM Plex Sans" pitchFamily="34" charset="-120"/>
              </a:rPr>
              <a:t>[Presenter name]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7"/>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AGENDA</a:t>
            </a:r>
            <a:endParaRPr lang="en-US" sz="1200" dirty="0"/>
          </a:p>
        </p:txBody>
      </p:sp>
      <p:sp>
        <p:nvSpPr>
          <p:cNvPr id="3" name="Text 1"/>
          <p:cNvSpPr/>
          <p:nvPr/>
        </p:nvSpPr>
        <p:spPr>
          <a:xfrm>
            <a:off x="812767" y="1127717"/>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What we'll cover today</a:t>
            </a:r>
            <a:endParaRPr lang="en-US" sz="3200" dirty="0"/>
          </a:p>
        </p:txBody>
      </p:sp>
      <p:sp>
        <p:nvSpPr>
          <p:cNvPr id="4" name="Shape 2"/>
          <p:cNvSpPr/>
          <p:nvPr/>
        </p:nvSpPr>
        <p:spPr>
          <a:xfrm>
            <a:off x="812767" y="1889031"/>
            <a:ext cx="3352836" cy="0"/>
          </a:xfrm>
          <a:prstGeom prst="line">
            <a:avLst/>
          </a:prstGeom>
          <a:noFill/>
          <a:ln w="19050">
            <a:solidFill>
              <a:srgbClr val="16202E"/>
            </a:solidFill>
            <a:prstDash val="solid"/>
          </a:ln>
        </p:spPr>
      </p:sp>
      <p:sp>
        <p:nvSpPr>
          <p:cNvPr id="5" name="Text 3"/>
          <p:cNvSpPr/>
          <p:nvPr/>
        </p:nvSpPr>
        <p:spPr>
          <a:xfrm>
            <a:off x="812767" y="2024131"/>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01</a:t>
            </a:r>
            <a:endParaRPr lang="en-US" sz="1200" dirty="0"/>
          </a:p>
        </p:txBody>
      </p:sp>
      <p:sp>
        <p:nvSpPr>
          <p:cNvPr id="6" name="Text 4"/>
          <p:cNvSpPr/>
          <p:nvPr/>
        </p:nvSpPr>
        <p:spPr>
          <a:xfrm>
            <a:off x="812767" y="2300979"/>
            <a:ext cx="3453421"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Why a testing process</a:t>
            </a:r>
            <a:endParaRPr lang="en-US" sz="1800" dirty="0"/>
          </a:p>
        </p:txBody>
      </p:sp>
      <p:sp>
        <p:nvSpPr>
          <p:cNvPr id="7" name="Text 5"/>
          <p:cNvSpPr/>
          <p:nvPr/>
        </p:nvSpPr>
        <p:spPr>
          <a:xfrm>
            <a:off x="812767" y="2638806"/>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Seven principles and the lifecycle</a:t>
            </a:r>
            <a:endParaRPr lang="en-US" sz="1200" dirty="0"/>
          </a:p>
        </p:txBody>
      </p:sp>
      <p:sp>
        <p:nvSpPr>
          <p:cNvPr id="8" name="Shape 6"/>
          <p:cNvSpPr/>
          <p:nvPr/>
        </p:nvSpPr>
        <p:spPr>
          <a:xfrm>
            <a:off x="4419575" y="1889031"/>
            <a:ext cx="3352836" cy="0"/>
          </a:xfrm>
          <a:prstGeom prst="line">
            <a:avLst/>
          </a:prstGeom>
          <a:noFill/>
          <a:ln w="19050">
            <a:solidFill>
              <a:srgbClr val="16202E"/>
            </a:solidFill>
            <a:prstDash val="solid"/>
          </a:ln>
        </p:spPr>
      </p:sp>
      <p:sp>
        <p:nvSpPr>
          <p:cNvPr id="9" name="Text 7"/>
          <p:cNvSpPr/>
          <p:nvPr/>
        </p:nvSpPr>
        <p:spPr>
          <a:xfrm>
            <a:off x="4419575" y="2024131"/>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02</a:t>
            </a:r>
            <a:endParaRPr lang="en-US" sz="1200" dirty="0"/>
          </a:p>
        </p:txBody>
      </p:sp>
      <p:sp>
        <p:nvSpPr>
          <p:cNvPr id="10" name="Text 8"/>
          <p:cNvSpPr/>
          <p:nvPr/>
        </p:nvSpPr>
        <p:spPr>
          <a:xfrm>
            <a:off x="4419575" y="2300979"/>
            <a:ext cx="3453421"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Requirement analysis</a:t>
            </a:r>
            <a:endParaRPr lang="en-US" sz="1800" dirty="0"/>
          </a:p>
        </p:txBody>
      </p:sp>
      <p:sp>
        <p:nvSpPr>
          <p:cNvPr id="11" name="Text 9"/>
          <p:cNvSpPr/>
          <p:nvPr/>
        </p:nvSpPr>
        <p:spPr>
          <a:xfrm>
            <a:off x="4419575" y="2638806"/>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Testable requirements, traceability</a:t>
            </a:r>
            <a:endParaRPr lang="en-US" sz="1200" dirty="0"/>
          </a:p>
        </p:txBody>
      </p:sp>
      <p:sp>
        <p:nvSpPr>
          <p:cNvPr id="12" name="Shape 10"/>
          <p:cNvSpPr/>
          <p:nvPr/>
        </p:nvSpPr>
        <p:spPr>
          <a:xfrm>
            <a:off x="8026383" y="1889031"/>
            <a:ext cx="3352836" cy="0"/>
          </a:xfrm>
          <a:prstGeom prst="line">
            <a:avLst/>
          </a:prstGeom>
          <a:noFill/>
          <a:ln w="19050">
            <a:solidFill>
              <a:srgbClr val="16202E"/>
            </a:solidFill>
            <a:prstDash val="solid"/>
          </a:ln>
        </p:spPr>
      </p:sp>
      <p:sp>
        <p:nvSpPr>
          <p:cNvPr id="13" name="Text 11"/>
          <p:cNvSpPr/>
          <p:nvPr/>
        </p:nvSpPr>
        <p:spPr>
          <a:xfrm>
            <a:off x="8026383" y="2024131"/>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03</a:t>
            </a:r>
            <a:endParaRPr lang="en-US" sz="1200" dirty="0"/>
          </a:p>
        </p:txBody>
      </p:sp>
      <p:sp>
        <p:nvSpPr>
          <p:cNvPr id="14" name="Text 12"/>
          <p:cNvSpPr/>
          <p:nvPr/>
        </p:nvSpPr>
        <p:spPr>
          <a:xfrm>
            <a:off x="8026383" y="2300979"/>
            <a:ext cx="3453421"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Test planning</a:t>
            </a:r>
            <a:endParaRPr lang="en-US" sz="1800" dirty="0"/>
          </a:p>
        </p:txBody>
      </p:sp>
      <p:sp>
        <p:nvSpPr>
          <p:cNvPr id="15" name="Text 13"/>
          <p:cNvSpPr/>
          <p:nvPr/>
        </p:nvSpPr>
        <p:spPr>
          <a:xfrm>
            <a:off x="8026383" y="2638806"/>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Scope, approach, levels and types</a:t>
            </a:r>
            <a:endParaRPr lang="en-US" sz="1200" dirty="0"/>
          </a:p>
        </p:txBody>
      </p:sp>
      <p:sp>
        <p:nvSpPr>
          <p:cNvPr id="16" name="Shape 14"/>
          <p:cNvSpPr/>
          <p:nvPr/>
        </p:nvSpPr>
        <p:spPr>
          <a:xfrm>
            <a:off x="812767" y="3115657"/>
            <a:ext cx="3352836" cy="0"/>
          </a:xfrm>
          <a:prstGeom prst="line">
            <a:avLst/>
          </a:prstGeom>
          <a:noFill/>
          <a:ln w="19050">
            <a:solidFill>
              <a:srgbClr val="16202E"/>
            </a:solidFill>
            <a:prstDash val="solid"/>
          </a:ln>
        </p:spPr>
      </p:sp>
      <p:sp>
        <p:nvSpPr>
          <p:cNvPr id="17" name="Text 15"/>
          <p:cNvSpPr/>
          <p:nvPr/>
        </p:nvSpPr>
        <p:spPr>
          <a:xfrm>
            <a:off x="812767" y="3250757"/>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04</a:t>
            </a:r>
            <a:endParaRPr lang="en-US" sz="1200" dirty="0"/>
          </a:p>
        </p:txBody>
      </p:sp>
      <p:sp>
        <p:nvSpPr>
          <p:cNvPr id="18" name="Text 16"/>
          <p:cNvSpPr/>
          <p:nvPr/>
        </p:nvSpPr>
        <p:spPr>
          <a:xfrm>
            <a:off x="812767" y="3527606"/>
            <a:ext cx="3453421"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Test development</a:t>
            </a:r>
            <a:endParaRPr lang="en-US" sz="1800" dirty="0"/>
          </a:p>
        </p:txBody>
      </p:sp>
      <p:sp>
        <p:nvSpPr>
          <p:cNvPr id="19" name="Text 17"/>
          <p:cNvSpPr/>
          <p:nvPr/>
        </p:nvSpPr>
        <p:spPr>
          <a:xfrm>
            <a:off x="812767" y="3865432"/>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Design techniques, test cases</a:t>
            </a:r>
            <a:endParaRPr lang="en-US" sz="1200" dirty="0"/>
          </a:p>
        </p:txBody>
      </p:sp>
      <p:sp>
        <p:nvSpPr>
          <p:cNvPr id="20" name="Shape 18"/>
          <p:cNvSpPr/>
          <p:nvPr/>
        </p:nvSpPr>
        <p:spPr>
          <a:xfrm>
            <a:off x="4419575" y="3115657"/>
            <a:ext cx="3352836" cy="0"/>
          </a:xfrm>
          <a:prstGeom prst="line">
            <a:avLst/>
          </a:prstGeom>
          <a:noFill/>
          <a:ln w="19050">
            <a:solidFill>
              <a:srgbClr val="16202E"/>
            </a:solidFill>
            <a:prstDash val="solid"/>
          </a:ln>
        </p:spPr>
      </p:sp>
      <p:sp>
        <p:nvSpPr>
          <p:cNvPr id="21" name="Text 19"/>
          <p:cNvSpPr/>
          <p:nvPr/>
        </p:nvSpPr>
        <p:spPr>
          <a:xfrm>
            <a:off x="4419575" y="3250757"/>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05</a:t>
            </a:r>
            <a:endParaRPr lang="en-US" sz="1200" dirty="0"/>
          </a:p>
        </p:txBody>
      </p:sp>
      <p:sp>
        <p:nvSpPr>
          <p:cNvPr id="22" name="Text 20"/>
          <p:cNvSpPr/>
          <p:nvPr/>
        </p:nvSpPr>
        <p:spPr>
          <a:xfrm>
            <a:off x="4419575" y="3527606"/>
            <a:ext cx="3453421"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Test execution</a:t>
            </a:r>
            <a:endParaRPr lang="en-US" sz="1800" dirty="0"/>
          </a:p>
        </p:txBody>
      </p:sp>
      <p:sp>
        <p:nvSpPr>
          <p:cNvPr id="23" name="Text 21"/>
          <p:cNvSpPr/>
          <p:nvPr/>
        </p:nvSpPr>
        <p:spPr>
          <a:xfrm>
            <a:off x="4419575" y="3865432"/>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Running, recording, metrics</a:t>
            </a:r>
            <a:endParaRPr lang="en-US" sz="1200" dirty="0"/>
          </a:p>
        </p:txBody>
      </p:sp>
      <p:sp>
        <p:nvSpPr>
          <p:cNvPr id="24" name="Shape 22"/>
          <p:cNvSpPr/>
          <p:nvPr/>
        </p:nvSpPr>
        <p:spPr>
          <a:xfrm>
            <a:off x="8026383" y="3115657"/>
            <a:ext cx="3352836" cy="0"/>
          </a:xfrm>
          <a:prstGeom prst="line">
            <a:avLst/>
          </a:prstGeom>
          <a:noFill/>
          <a:ln w="19050">
            <a:solidFill>
              <a:srgbClr val="16202E"/>
            </a:solidFill>
            <a:prstDash val="solid"/>
          </a:ln>
        </p:spPr>
      </p:sp>
      <p:sp>
        <p:nvSpPr>
          <p:cNvPr id="25" name="Text 23"/>
          <p:cNvSpPr/>
          <p:nvPr/>
        </p:nvSpPr>
        <p:spPr>
          <a:xfrm>
            <a:off x="8026383" y="3250757"/>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06</a:t>
            </a:r>
            <a:endParaRPr lang="en-US" sz="1200" dirty="0"/>
          </a:p>
        </p:txBody>
      </p:sp>
      <p:sp>
        <p:nvSpPr>
          <p:cNvPr id="26" name="Text 24"/>
          <p:cNvSpPr/>
          <p:nvPr/>
        </p:nvSpPr>
        <p:spPr>
          <a:xfrm>
            <a:off x="8026383" y="3527606"/>
            <a:ext cx="3453421"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Defect management</a:t>
            </a:r>
            <a:endParaRPr lang="en-US" sz="1800" dirty="0"/>
          </a:p>
        </p:txBody>
      </p:sp>
      <p:sp>
        <p:nvSpPr>
          <p:cNvPr id="27" name="Text 25"/>
          <p:cNvSpPr/>
          <p:nvPr/>
        </p:nvSpPr>
        <p:spPr>
          <a:xfrm>
            <a:off x="8026383" y="3865432"/>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Lifecycle, reports, severity vs priority</a:t>
            </a:r>
            <a:endParaRPr lang="en-US" sz="1200" dirty="0"/>
          </a:p>
        </p:txBody>
      </p:sp>
      <p:sp>
        <p:nvSpPr>
          <p:cNvPr id="28" name="Shape 26"/>
          <p:cNvSpPr/>
          <p:nvPr/>
        </p:nvSpPr>
        <p:spPr>
          <a:xfrm>
            <a:off x="812767" y="4342284"/>
            <a:ext cx="3352836" cy="0"/>
          </a:xfrm>
          <a:prstGeom prst="line">
            <a:avLst/>
          </a:prstGeom>
          <a:noFill/>
          <a:ln w="19050">
            <a:solidFill>
              <a:srgbClr val="16202E"/>
            </a:solidFill>
            <a:prstDash val="solid"/>
          </a:ln>
        </p:spPr>
      </p:sp>
      <p:sp>
        <p:nvSpPr>
          <p:cNvPr id="29" name="Text 27"/>
          <p:cNvSpPr/>
          <p:nvPr/>
        </p:nvSpPr>
        <p:spPr>
          <a:xfrm>
            <a:off x="812767" y="4477384"/>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07</a:t>
            </a:r>
            <a:endParaRPr lang="en-US" sz="1200" dirty="0"/>
          </a:p>
        </p:txBody>
      </p:sp>
      <p:sp>
        <p:nvSpPr>
          <p:cNvPr id="30" name="Text 28"/>
          <p:cNvSpPr/>
          <p:nvPr/>
        </p:nvSpPr>
        <p:spPr>
          <a:xfrm>
            <a:off x="812767" y="4754232"/>
            <a:ext cx="3453421"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Closure &amp; challenges</a:t>
            </a:r>
            <a:endParaRPr lang="en-US" sz="1800" dirty="0"/>
          </a:p>
        </p:txBody>
      </p:sp>
      <p:sp>
        <p:nvSpPr>
          <p:cNvPr id="31" name="Text 29"/>
          <p:cNvSpPr/>
          <p:nvPr/>
        </p:nvSpPr>
        <p:spPr>
          <a:xfrm>
            <a:off x="812767" y="5092057"/>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Exit criteria, common pitfalls</a:t>
            </a:r>
            <a:endParaRPr lang="en-US" sz="1200" dirty="0"/>
          </a:p>
        </p:txBody>
      </p:sp>
      <p:sp>
        <p:nvSpPr>
          <p:cNvPr id="32" name="Shape 30"/>
          <p:cNvSpPr/>
          <p:nvPr/>
        </p:nvSpPr>
        <p:spPr>
          <a:xfrm>
            <a:off x="4419575" y="4342284"/>
            <a:ext cx="3352836" cy="0"/>
          </a:xfrm>
          <a:prstGeom prst="line">
            <a:avLst/>
          </a:prstGeom>
          <a:noFill/>
          <a:ln w="19050">
            <a:solidFill>
              <a:srgbClr val="16202E"/>
            </a:solidFill>
            <a:prstDash val="solid"/>
          </a:ln>
        </p:spPr>
      </p:sp>
      <p:sp>
        <p:nvSpPr>
          <p:cNvPr id="33" name="Text 31"/>
          <p:cNvSpPr/>
          <p:nvPr/>
        </p:nvSpPr>
        <p:spPr>
          <a:xfrm>
            <a:off x="4419575" y="4477384"/>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08</a:t>
            </a:r>
            <a:endParaRPr lang="en-US" sz="1200" dirty="0"/>
          </a:p>
        </p:txBody>
      </p:sp>
      <p:sp>
        <p:nvSpPr>
          <p:cNvPr id="34" name="Text 32"/>
          <p:cNvSpPr/>
          <p:nvPr/>
        </p:nvSpPr>
        <p:spPr>
          <a:xfrm>
            <a:off x="4419575" y="4754232"/>
            <a:ext cx="3453421"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Tester vs QA vs QC</a:t>
            </a:r>
            <a:endParaRPr lang="en-US" sz="1800" dirty="0"/>
          </a:p>
        </p:txBody>
      </p:sp>
      <p:sp>
        <p:nvSpPr>
          <p:cNvPr id="35" name="Text 33"/>
          <p:cNvSpPr/>
          <p:nvPr/>
        </p:nvSpPr>
        <p:spPr>
          <a:xfrm>
            <a:off x="4419575" y="5092057"/>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Who does what, and why it matters</a:t>
            </a:r>
            <a:endParaRPr lang="en-US" sz="1200" dirty="0"/>
          </a:p>
        </p:txBody>
      </p:sp>
      <p:sp>
        <p:nvSpPr>
          <p:cNvPr id="36" name="Shape 34"/>
          <p:cNvSpPr/>
          <p:nvPr/>
        </p:nvSpPr>
        <p:spPr>
          <a:xfrm>
            <a:off x="8026383" y="4342284"/>
            <a:ext cx="3352836" cy="0"/>
          </a:xfrm>
          <a:prstGeom prst="line">
            <a:avLst/>
          </a:prstGeom>
          <a:noFill/>
          <a:ln w="19050">
            <a:solidFill>
              <a:srgbClr val="B8481A"/>
            </a:solidFill>
            <a:prstDash val="solid"/>
          </a:ln>
        </p:spPr>
      </p:sp>
      <p:sp>
        <p:nvSpPr>
          <p:cNvPr id="37" name="Text 35"/>
          <p:cNvSpPr/>
          <p:nvPr/>
        </p:nvSpPr>
        <p:spPr>
          <a:xfrm>
            <a:off x="8026383" y="4477384"/>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09</a:t>
            </a:r>
            <a:endParaRPr lang="en-US" sz="1200" dirty="0"/>
          </a:p>
        </p:txBody>
      </p:sp>
      <p:sp>
        <p:nvSpPr>
          <p:cNvPr id="38" name="Text 36"/>
          <p:cNvSpPr/>
          <p:nvPr/>
        </p:nvSpPr>
        <p:spPr>
          <a:xfrm>
            <a:off x="8026383" y="4754232"/>
            <a:ext cx="3453421"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Hands-on exercise</a:t>
            </a:r>
            <a:endParaRPr lang="en-US" sz="1800" dirty="0"/>
          </a:p>
        </p:txBody>
      </p:sp>
      <p:sp>
        <p:nvSpPr>
          <p:cNvPr id="39" name="Text 37"/>
          <p:cNvSpPr/>
          <p:nvPr/>
        </p:nvSpPr>
        <p:spPr>
          <a:xfrm>
            <a:off x="8026383" y="5092057"/>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Test a login page together</a:t>
            </a:r>
            <a:endParaRPr lang="en-US" sz="1200" dirty="0"/>
          </a:p>
        </p:txBody>
      </p:sp>
      <p:sp>
        <p:nvSpPr>
          <p:cNvPr id="40" name="Text 38"/>
          <p:cNvSpPr/>
          <p:nvPr/>
        </p:nvSpPr>
        <p:spPr>
          <a:xfrm>
            <a:off x="812767" y="6238240"/>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41" name="Text 39"/>
          <p:cNvSpPr/>
          <p:nvPr/>
        </p:nvSpPr>
        <p:spPr>
          <a:xfrm>
            <a:off x="10058419" y="6238240"/>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7"/>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01 · FOUNDATIONS</a:t>
            </a:r>
            <a:endParaRPr lang="en-US" sz="1200" dirty="0"/>
          </a:p>
        </p:txBody>
      </p:sp>
      <p:sp>
        <p:nvSpPr>
          <p:cNvPr id="3" name="Text 1"/>
          <p:cNvSpPr/>
          <p:nvPr/>
        </p:nvSpPr>
        <p:spPr>
          <a:xfrm>
            <a:off x="812767" y="1127717"/>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Seven principles behind every test process</a:t>
            </a:r>
            <a:endParaRPr lang="en-US" sz="3200" dirty="0"/>
          </a:p>
        </p:txBody>
      </p:sp>
      <p:sp>
        <p:nvSpPr>
          <p:cNvPr id="4" name="Shape 2"/>
          <p:cNvSpPr/>
          <p:nvPr/>
        </p:nvSpPr>
        <p:spPr>
          <a:xfrm>
            <a:off x="815942" y="1882682"/>
            <a:ext cx="2540023" cy="1292692"/>
          </a:xfrm>
          <a:prstGeom prst="roundRect">
            <a:avLst>
              <a:gd name="adj" fmla="val 7614"/>
            </a:avLst>
          </a:prstGeom>
          <a:solidFill>
            <a:srgbClr val="FBFAF7"/>
          </a:solidFill>
          <a:ln w="6350">
            <a:solidFill>
              <a:srgbClr val="DDD7CA"/>
            </a:solidFill>
            <a:prstDash val="solid"/>
          </a:ln>
        </p:spPr>
      </p:sp>
      <p:sp>
        <p:nvSpPr>
          <p:cNvPr id="5" name="Text 3"/>
          <p:cNvSpPr/>
          <p:nvPr/>
        </p:nvSpPr>
        <p:spPr>
          <a:xfrm>
            <a:off x="994944" y="2061683"/>
            <a:ext cx="2247481" cy="469886"/>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Testing shows presence of defects</a:t>
            </a:r>
            <a:endParaRPr lang="en-US" sz="1400" dirty="0"/>
          </a:p>
        </p:txBody>
      </p:sp>
      <p:sp>
        <p:nvSpPr>
          <p:cNvPr id="6" name="Text 4"/>
          <p:cNvSpPr/>
          <p:nvPr/>
        </p:nvSpPr>
        <p:spPr>
          <a:xfrm>
            <a:off x="994944" y="2569662"/>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It can prove bugs exist, never that none remain.</a:t>
            </a:r>
            <a:endParaRPr lang="en-US" sz="1200" dirty="0"/>
          </a:p>
        </p:txBody>
      </p:sp>
      <p:sp>
        <p:nvSpPr>
          <p:cNvPr id="7" name="Shape 5"/>
          <p:cNvSpPr/>
          <p:nvPr/>
        </p:nvSpPr>
        <p:spPr>
          <a:xfrm>
            <a:off x="3489301" y="1882682"/>
            <a:ext cx="2540023" cy="1292692"/>
          </a:xfrm>
          <a:prstGeom prst="roundRect">
            <a:avLst>
              <a:gd name="adj" fmla="val 7614"/>
            </a:avLst>
          </a:prstGeom>
          <a:solidFill>
            <a:srgbClr val="FBFAF7"/>
          </a:solidFill>
          <a:ln w="6350">
            <a:solidFill>
              <a:srgbClr val="DDD7CA"/>
            </a:solidFill>
            <a:prstDash val="solid"/>
          </a:ln>
        </p:spPr>
      </p:sp>
      <p:sp>
        <p:nvSpPr>
          <p:cNvPr id="8" name="Text 6"/>
          <p:cNvSpPr/>
          <p:nvPr/>
        </p:nvSpPr>
        <p:spPr>
          <a:xfrm>
            <a:off x="3668303" y="2061683"/>
            <a:ext cx="2247481" cy="469886"/>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Exhaustive testing is impossible</a:t>
            </a:r>
            <a:endParaRPr lang="en-US" sz="1400" dirty="0"/>
          </a:p>
        </p:txBody>
      </p:sp>
      <p:sp>
        <p:nvSpPr>
          <p:cNvPr id="9" name="Text 7"/>
          <p:cNvSpPr/>
          <p:nvPr/>
        </p:nvSpPr>
        <p:spPr>
          <a:xfrm>
            <a:off x="3668303" y="2569662"/>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Use risk and test techniques to decide what to test.</a:t>
            </a:r>
            <a:endParaRPr lang="en-US" sz="1200" dirty="0"/>
          </a:p>
        </p:txBody>
      </p:sp>
      <p:sp>
        <p:nvSpPr>
          <p:cNvPr id="10" name="Shape 8"/>
          <p:cNvSpPr/>
          <p:nvPr/>
        </p:nvSpPr>
        <p:spPr>
          <a:xfrm>
            <a:off x="6162661" y="1882682"/>
            <a:ext cx="2540023" cy="1292692"/>
          </a:xfrm>
          <a:prstGeom prst="roundRect">
            <a:avLst>
              <a:gd name="adj" fmla="val 7614"/>
            </a:avLst>
          </a:prstGeom>
          <a:solidFill>
            <a:srgbClr val="FBFAF7"/>
          </a:solidFill>
          <a:ln w="6350">
            <a:solidFill>
              <a:srgbClr val="DDD7CA"/>
            </a:solidFill>
            <a:prstDash val="solid"/>
          </a:ln>
        </p:spPr>
      </p:sp>
      <p:sp>
        <p:nvSpPr>
          <p:cNvPr id="11" name="Text 9"/>
          <p:cNvSpPr/>
          <p:nvPr/>
        </p:nvSpPr>
        <p:spPr>
          <a:xfrm>
            <a:off x="6341663" y="2061683"/>
            <a:ext cx="2247481" cy="469886"/>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Early testing saves time and money</a:t>
            </a:r>
            <a:endParaRPr lang="en-US" sz="1400" dirty="0"/>
          </a:p>
        </p:txBody>
      </p:sp>
      <p:sp>
        <p:nvSpPr>
          <p:cNvPr id="12" name="Text 10"/>
          <p:cNvSpPr/>
          <p:nvPr/>
        </p:nvSpPr>
        <p:spPr>
          <a:xfrm>
            <a:off x="6341663" y="2569662"/>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Catch defects in requirements and design, not in production.</a:t>
            </a:r>
            <a:endParaRPr lang="en-US" sz="1200" dirty="0"/>
          </a:p>
        </p:txBody>
      </p:sp>
      <p:sp>
        <p:nvSpPr>
          <p:cNvPr id="13" name="Shape 11"/>
          <p:cNvSpPr/>
          <p:nvPr/>
        </p:nvSpPr>
        <p:spPr>
          <a:xfrm>
            <a:off x="8836020" y="1882682"/>
            <a:ext cx="2540023" cy="1292692"/>
          </a:xfrm>
          <a:prstGeom prst="roundRect">
            <a:avLst>
              <a:gd name="adj" fmla="val 7614"/>
            </a:avLst>
          </a:prstGeom>
          <a:solidFill>
            <a:srgbClr val="FBFAF7"/>
          </a:solidFill>
          <a:ln w="6350">
            <a:solidFill>
              <a:srgbClr val="DDD7CA"/>
            </a:solidFill>
            <a:prstDash val="solid"/>
          </a:ln>
        </p:spPr>
      </p:sp>
      <p:sp>
        <p:nvSpPr>
          <p:cNvPr id="14" name="Text 12"/>
          <p:cNvSpPr/>
          <p:nvPr/>
        </p:nvSpPr>
        <p:spPr>
          <a:xfrm>
            <a:off x="9015022" y="2061683"/>
            <a:ext cx="2247481"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Defects cluster together</a:t>
            </a:r>
            <a:endParaRPr lang="en-US" sz="1400" dirty="0"/>
          </a:p>
        </p:txBody>
      </p:sp>
      <p:sp>
        <p:nvSpPr>
          <p:cNvPr id="15" name="Text 13"/>
          <p:cNvSpPr/>
          <p:nvPr/>
        </p:nvSpPr>
        <p:spPr>
          <a:xfrm>
            <a:off x="9015022" y="2347420"/>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A few modules usually hold most of the defects.</a:t>
            </a:r>
            <a:endParaRPr lang="en-US" sz="1200" dirty="0"/>
          </a:p>
        </p:txBody>
      </p:sp>
      <p:sp>
        <p:nvSpPr>
          <p:cNvPr id="16" name="Shape 14"/>
          <p:cNvSpPr/>
          <p:nvPr/>
        </p:nvSpPr>
        <p:spPr>
          <a:xfrm>
            <a:off x="815942" y="3308710"/>
            <a:ext cx="2540023" cy="1506047"/>
          </a:xfrm>
          <a:prstGeom prst="roundRect">
            <a:avLst>
              <a:gd name="adj" fmla="val 6535"/>
            </a:avLst>
          </a:prstGeom>
          <a:solidFill>
            <a:srgbClr val="FBFAF7"/>
          </a:solidFill>
          <a:ln w="6350">
            <a:solidFill>
              <a:srgbClr val="DDD7CA"/>
            </a:solidFill>
            <a:prstDash val="solid"/>
          </a:ln>
        </p:spPr>
      </p:sp>
      <p:sp>
        <p:nvSpPr>
          <p:cNvPr id="17" name="Text 15"/>
          <p:cNvSpPr/>
          <p:nvPr/>
        </p:nvSpPr>
        <p:spPr>
          <a:xfrm>
            <a:off x="994944" y="3487711"/>
            <a:ext cx="2247481" cy="469886"/>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Beware the pesticide paradox</a:t>
            </a:r>
            <a:endParaRPr lang="en-US" sz="1400" dirty="0"/>
          </a:p>
        </p:txBody>
      </p:sp>
      <p:sp>
        <p:nvSpPr>
          <p:cNvPr id="18" name="Text 16"/>
          <p:cNvSpPr/>
          <p:nvPr/>
        </p:nvSpPr>
        <p:spPr>
          <a:xfrm>
            <a:off x="994944" y="3995691"/>
            <a:ext cx="2247481" cy="66546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The same tests, repeated, stop finding new bugs. Refresh them.</a:t>
            </a:r>
            <a:endParaRPr lang="en-US" sz="1200" dirty="0"/>
          </a:p>
        </p:txBody>
      </p:sp>
      <p:sp>
        <p:nvSpPr>
          <p:cNvPr id="19" name="Shape 17"/>
          <p:cNvSpPr/>
          <p:nvPr/>
        </p:nvSpPr>
        <p:spPr>
          <a:xfrm>
            <a:off x="3489301" y="3308710"/>
            <a:ext cx="2540023" cy="1506047"/>
          </a:xfrm>
          <a:prstGeom prst="roundRect">
            <a:avLst>
              <a:gd name="adj" fmla="val 6535"/>
            </a:avLst>
          </a:prstGeom>
          <a:solidFill>
            <a:srgbClr val="FBFAF7"/>
          </a:solidFill>
          <a:ln w="6350">
            <a:solidFill>
              <a:srgbClr val="DDD7CA"/>
            </a:solidFill>
            <a:prstDash val="solid"/>
          </a:ln>
        </p:spPr>
      </p:sp>
      <p:sp>
        <p:nvSpPr>
          <p:cNvPr id="20" name="Text 18"/>
          <p:cNvSpPr/>
          <p:nvPr/>
        </p:nvSpPr>
        <p:spPr>
          <a:xfrm>
            <a:off x="3668303" y="3487711"/>
            <a:ext cx="2247481" cy="469886"/>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Testing is context dependent</a:t>
            </a:r>
            <a:endParaRPr lang="en-US" sz="1400" dirty="0"/>
          </a:p>
        </p:txBody>
      </p:sp>
      <p:sp>
        <p:nvSpPr>
          <p:cNvPr id="21" name="Text 19"/>
          <p:cNvSpPr/>
          <p:nvPr/>
        </p:nvSpPr>
        <p:spPr>
          <a:xfrm>
            <a:off x="3668303" y="3995691"/>
            <a:ext cx="2247481" cy="66546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A banking app and a mobile game need different approaches.</a:t>
            </a:r>
            <a:endParaRPr lang="en-US" sz="1200" dirty="0"/>
          </a:p>
        </p:txBody>
      </p:sp>
      <p:sp>
        <p:nvSpPr>
          <p:cNvPr id="22" name="Shape 20"/>
          <p:cNvSpPr/>
          <p:nvPr/>
        </p:nvSpPr>
        <p:spPr>
          <a:xfrm>
            <a:off x="6162661" y="3308710"/>
            <a:ext cx="2540023" cy="1506047"/>
          </a:xfrm>
          <a:prstGeom prst="roundRect">
            <a:avLst>
              <a:gd name="adj" fmla="val 6535"/>
            </a:avLst>
          </a:prstGeom>
          <a:solidFill>
            <a:srgbClr val="FBFAF7"/>
          </a:solidFill>
          <a:ln w="6350">
            <a:solidFill>
              <a:srgbClr val="DDD7CA"/>
            </a:solidFill>
            <a:prstDash val="solid"/>
          </a:ln>
        </p:spPr>
      </p:sp>
      <p:sp>
        <p:nvSpPr>
          <p:cNvPr id="23" name="Text 21"/>
          <p:cNvSpPr/>
          <p:nvPr/>
        </p:nvSpPr>
        <p:spPr>
          <a:xfrm>
            <a:off x="6341663" y="3487711"/>
            <a:ext cx="2247481" cy="469886"/>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Absence of errors is a fallacy</a:t>
            </a:r>
            <a:endParaRPr lang="en-US" sz="1400" dirty="0"/>
          </a:p>
        </p:txBody>
      </p:sp>
      <p:sp>
        <p:nvSpPr>
          <p:cNvPr id="24" name="Text 22"/>
          <p:cNvSpPr/>
          <p:nvPr/>
        </p:nvSpPr>
        <p:spPr>
          <a:xfrm>
            <a:off x="6341663" y="3995691"/>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Bug-free software that misses user needs still fails.</a:t>
            </a:r>
            <a:endParaRPr lang="en-US" sz="1200" dirty="0"/>
          </a:p>
        </p:txBody>
      </p:sp>
      <p:sp>
        <p:nvSpPr>
          <p:cNvPr id="25" name="Shape 23"/>
          <p:cNvSpPr/>
          <p:nvPr/>
        </p:nvSpPr>
        <p:spPr>
          <a:xfrm>
            <a:off x="8832845" y="3305535"/>
            <a:ext cx="2546373" cy="1512397"/>
          </a:xfrm>
          <a:prstGeom prst="roundRect">
            <a:avLst>
              <a:gd name="adj" fmla="val 6718"/>
            </a:avLst>
          </a:prstGeom>
          <a:solidFill>
            <a:srgbClr val="16202E"/>
          </a:solidFill>
          <a:ln/>
        </p:spPr>
      </p:sp>
      <p:sp>
        <p:nvSpPr>
          <p:cNvPr id="26" name="Text 24"/>
          <p:cNvSpPr/>
          <p:nvPr/>
        </p:nvSpPr>
        <p:spPr>
          <a:xfrm>
            <a:off x="9010613" y="3701686"/>
            <a:ext cx="2256565" cy="745459"/>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6F4EF"/>
                </a:solidFill>
                <a:latin typeface="IBM Plex Sans" pitchFamily="34" charset="0"/>
                <a:ea typeface="IBM Plex Sans" pitchFamily="34" charset="-122"/>
                <a:cs typeface="IBM Plex Sans" pitchFamily="34" charset="-120"/>
              </a:rPr>
              <a:t>A test process turns these into decisions: </a:t>
            </a:r>
            <a:r>
              <a:rPr lang="en-US" sz="1400" dirty="0">
                <a:solidFill>
                  <a:srgbClr val="F29863"/>
                </a:solidFill>
                <a:latin typeface="IBM Plex Sans" pitchFamily="34" charset="0"/>
                <a:ea typeface="IBM Plex Sans" pitchFamily="34" charset="-122"/>
                <a:cs typeface="IBM Plex Sans" pitchFamily="34" charset="-120"/>
              </a:rPr>
              <a:t>where</a:t>
            </a:r>
            <a:r>
              <a:rPr lang="en-US" sz="1400" dirty="0">
                <a:solidFill>
                  <a:srgbClr val="F6F4EF"/>
                </a:solidFill>
                <a:latin typeface="IBM Plex Sans" pitchFamily="34" charset="0"/>
                <a:ea typeface="IBM Plex Sans" pitchFamily="34" charset="-122"/>
                <a:cs typeface="IBM Plex Sans" pitchFamily="34" charset="-120"/>
              </a:rPr>
              <a:t> to test, </a:t>
            </a:r>
            <a:r>
              <a:rPr lang="en-US" sz="1400" dirty="0">
                <a:solidFill>
                  <a:srgbClr val="F29863"/>
                </a:solidFill>
                <a:latin typeface="IBM Plex Sans" pitchFamily="34" charset="0"/>
                <a:ea typeface="IBM Plex Sans" pitchFamily="34" charset="-122"/>
                <a:cs typeface="IBM Plex Sans" pitchFamily="34" charset="-120"/>
              </a:rPr>
              <a:t>how much</a:t>
            </a:r>
            <a:r>
              <a:rPr lang="en-US" sz="1400" dirty="0">
                <a:solidFill>
                  <a:srgbClr val="F6F4EF"/>
                </a:solidFill>
                <a:latin typeface="IBM Plex Sans" pitchFamily="34" charset="0"/>
                <a:ea typeface="IBM Plex Sans" pitchFamily="34" charset="-122"/>
                <a:cs typeface="IBM Plex Sans" pitchFamily="34" charset="-120"/>
              </a:rPr>
              <a:t>, and </a:t>
            </a:r>
            <a:r>
              <a:rPr lang="en-US" sz="1400" dirty="0">
                <a:solidFill>
                  <a:srgbClr val="F29863"/>
                </a:solidFill>
                <a:latin typeface="IBM Plex Sans" pitchFamily="34" charset="0"/>
                <a:ea typeface="IBM Plex Sans" pitchFamily="34" charset="-122"/>
                <a:cs typeface="IBM Plex Sans" pitchFamily="34" charset="-120"/>
              </a:rPr>
              <a:t>when</a:t>
            </a:r>
            <a:r>
              <a:rPr lang="en-US" sz="1400" dirty="0">
                <a:solidFill>
                  <a:srgbClr val="F6F4EF"/>
                </a:solidFill>
                <a:latin typeface="IBM Plex Sans" pitchFamily="34" charset="0"/>
                <a:ea typeface="IBM Plex Sans" pitchFamily="34" charset="-122"/>
                <a:cs typeface="IBM Plex Sans" pitchFamily="34" charset="-120"/>
              </a:rPr>
              <a:t>.</a:t>
            </a:r>
            <a:endParaRPr lang="en-US" sz="1400" dirty="0"/>
          </a:p>
        </p:txBody>
      </p:sp>
      <p:sp>
        <p:nvSpPr>
          <p:cNvPr id="27" name="Text 25"/>
          <p:cNvSpPr/>
          <p:nvPr/>
        </p:nvSpPr>
        <p:spPr>
          <a:xfrm>
            <a:off x="812767" y="6238241"/>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Source: ISTQB Foundation Level syllabus</a:t>
            </a:r>
            <a:endParaRPr lang="en-US" sz="1200" dirty="0"/>
          </a:p>
        </p:txBody>
      </p:sp>
      <p:sp>
        <p:nvSpPr>
          <p:cNvPr id="28" name="Text 26"/>
          <p:cNvSpPr/>
          <p:nvPr/>
        </p:nvSpPr>
        <p:spPr>
          <a:xfrm>
            <a:off x="10058419" y="6238241"/>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7"/>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01 · SOFTWARE TESTING LIFE CYCLE</a:t>
            </a:r>
            <a:endParaRPr lang="en-US" sz="1200" dirty="0"/>
          </a:p>
        </p:txBody>
      </p:sp>
      <p:sp>
        <p:nvSpPr>
          <p:cNvPr id="3" name="Text 1"/>
          <p:cNvSpPr/>
          <p:nvPr/>
        </p:nvSpPr>
        <p:spPr>
          <a:xfrm>
            <a:off x="812767" y="1127719"/>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The testing lifecycle at a glance</a:t>
            </a:r>
            <a:endParaRPr lang="en-US" sz="3200" dirty="0"/>
          </a:p>
        </p:txBody>
      </p:sp>
      <p:sp>
        <p:nvSpPr>
          <p:cNvPr id="4" name="Shape 2"/>
          <p:cNvSpPr/>
          <p:nvPr/>
        </p:nvSpPr>
        <p:spPr>
          <a:xfrm>
            <a:off x="815942" y="1882682"/>
            <a:ext cx="1585387" cy="1424777"/>
          </a:xfrm>
          <a:prstGeom prst="roundRect">
            <a:avLst>
              <a:gd name="adj" fmla="val 6908"/>
            </a:avLst>
          </a:prstGeom>
          <a:solidFill>
            <a:srgbClr val="FBFAF7"/>
          </a:solidFill>
          <a:ln w="6350">
            <a:solidFill>
              <a:srgbClr val="DDD7CA"/>
            </a:solidFill>
            <a:prstDash val="solid"/>
          </a:ln>
        </p:spPr>
      </p:sp>
      <p:sp>
        <p:nvSpPr>
          <p:cNvPr id="5" name="Text 3"/>
          <p:cNvSpPr/>
          <p:nvPr/>
        </p:nvSpPr>
        <p:spPr>
          <a:xfrm>
            <a:off x="944163" y="2010904"/>
            <a:ext cx="13797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01</a:t>
            </a:r>
            <a:endParaRPr lang="en-US" sz="1200" dirty="0"/>
          </a:p>
        </p:txBody>
      </p:sp>
      <p:sp>
        <p:nvSpPr>
          <p:cNvPr id="6" name="Text 4"/>
          <p:cNvSpPr/>
          <p:nvPr/>
        </p:nvSpPr>
        <p:spPr>
          <a:xfrm>
            <a:off x="944163" y="2275038"/>
            <a:ext cx="1379746" cy="45211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Requirement analysis</a:t>
            </a:r>
            <a:endParaRPr lang="en-US" sz="1400" dirty="0"/>
          </a:p>
        </p:txBody>
      </p:sp>
      <p:sp>
        <p:nvSpPr>
          <p:cNvPr id="7" name="Text 5"/>
          <p:cNvSpPr/>
          <p:nvPr/>
        </p:nvSpPr>
        <p:spPr>
          <a:xfrm>
            <a:off x="944163" y="2752528"/>
            <a:ext cx="1379746"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Output: testable reqs, RTM</a:t>
            </a:r>
            <a:endParaRPr lang="en-US" sz="1200" dirty="0"/>
          </a:p>
        </p:txBody>
      </p:sp>
      <p:pic>
        <p:nvPicPr>
          <p:cNvPr id="8" name="Image 0" descr="connector">    </p:cNvPr>
          <p:cNvPicPr>
            <a:picLocks noChangeAspect="1"/>
          </p:cNvPicPr>
          <p:nvPr/>
        </p:nvPicPr>
        <p:blipFill>
          <a:blip r:embed="rId1"/>
          <a:srcRect l="-17" r="-17" t="0" b="0"/>
          <a:stretch/>
        </p:blipFill>
        <p:spPr>
          <a:xfrm>
            <a:off x="2404504" y="2556985"/>
            <a:ext cx="203192" cy="76171"/>
          </a:xfrm>
          <a:prstGeom prst="rect">
            <a:avLst/>
          </a:prstGeom>
        </p:spPr>
      </p:pic>
      <p:sp>
        <p:nvSpPr>
          <p:cNvPr id="9" name="Shape 6"/>
          <p:cNvSpPr/>
          <p:nvPr/>
        </p:nvSpPr>
        <p:spPr>
          <a:xfrm>
            <a:off x="2610871" y="1882682"/>
            <a:ext cx="1585422" cy="1424777"/>
          </a:xfrm>
          <a:prstGeom prst="roundRect">
            <a:avLst>
              <a:gd name="adj" fmla="val 6908"/>
            </a:avLst>
          </a:prstGeom>
          <a:solidFill>
            <a:srgbClr val="FBFAF7"/>
          </a:solidFill>
          <a:ln w="6350">
            <a:solidFill>
              <a:srgbClr val="DDD7CA"/>
            </a:solidFill>
            <a:prstDash val="solid"/>
          </a:ln>
        </p:spPr>
      </p:sp>
      <p:sp>
        <p:nvSpPr>
          <p:cNvPr id="10" name="Text 7"/>
          <p:cNvSpPr/>
          <p:nvPr/>
        </p:nvSpPr>
        <p:spPr>
          <a:xfrm>
            <a:off x="2739092" y="2010904"/>
            <a:ext cx="137978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02</a:t>
            </a:r>
            <a:endParaRPr lang="en-US" sz="1200" dirty="0"/>
          </a:p>
        </p:txBody>
      </p:sp>
      <p:sp>
        <p:nvSpPr>
          <p:cNvPr id="11" name="Text 8"/>
          <p:cNvSpPr/>
          <p:nvPr/>
        </p:nvSpPr>
        <p:spPr>
          <a:xfrm>
            <a:off x="2739092" y="2275038"/>
            <a:ext cx="1379780"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Test planning</a:t>
            </a:r>
            <a:endParaRPr lang="en-US" sz="1400" dirty="0"/>
          </a:p>
        </p:txBody>
      </p:sp>
      <p:sp>
        <p:nvSpPr>
          <p:cNvPr id="12" name="Text 9"/>
          <p:cNvSpPr/>
          <p:nvPr/>
        </p:nvSpPr>
        <p:spPr>
          <a:xfrm>
            <a:off x="2739092" y="2539174"/>
            <a:ext cx="1379780"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Output: test plan, estimates</a:t>
            </a:r>
            <a:endParaRPr lang="en-US" sz="1200" dirty="0"/>
          </a:p>
        </p:txBody>
      </p:sp>
      <p:pic>
        <p:nvPicPr>
          <p:cNvPr id="13" name="Image 1" descr="connector">    </p:cNvPr>
          <p:cNvPicPr>
            <a:picLocks noChangeAspect="1"/>
          </p:cNvPicPr>
          <p:nvPr/>
        </p:nvPicPr>
        <p:blipFill>
          <a:blip r:embed="rId2"/>
          <a:srcRect l="-17" r="-17" t="0" b="0"/>
          <a:stretch/>
        </p:blipFill>
        <p:spPr>
          <a:xfrm>
            <a:off x="4199468" y="2556985"/>
            <a:ext cx="203192" cy="76171"/>
          </a:xfrm>
          <a:prstGeom prst="rect">
            <a:avLst/>
          </a:prstGeom>
        </p:spPr>
      </p:pic>
      <p:sp>
        <p:nvSpPr>
          <p:cNvPr id="14" name="Shape 10"/>
          <p:cNvSpPr/>
          <p:nvPr/>
        </p:nvSpPr>
        <p:spPr>
          <a:xfrm>
            <a:off x="4405835" y="1882682"/>
            <a:ext cx="1585387" cy="1424777"/>
          </a:xfrm>
          <a:prstGeom prst="roundRect">
            <a:avLst>
              <a:gd name="adj" fmla="val 6908"/>
            </a:avLst>
          </a:prstGeom>
          <a:solidFill>
            <a:srgbClr val="FBFAF7"/>
          </a:solidFill>
          <a:ln w="6350">
            <a:solidFill>
              <a:srgbClr val="DDD7CA"/>
            </a:solidFill>
            <a:prstDash val="solid"/>
          </a:ln>
        </p:spPr>
      </p:sp>
      <p:sp>
        <p:nvSpPr>
          <p:cNvPr id="15" name="Text 11"/>
          <p:cNvSpPr/>
          <p:nvPr/>
        </p:nvSpPr>
        <p:spPr>
          <a:xfrm>
            <a:off x="4534055" y="2010904"/>
            <a:ext cx="13797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03</a:t>
            </a:r>
            <a:endParaRPr lang="en-US" sz="1200" dirty="0"/>
          </a:p>
        </p:txBody>
      </p:sp>
      <p:sp>
        <p:nvSpPr>
          <p:cNvPr id="16" name="Text 12"/>
          <p:cNvSpPr/>
          <p:nvPr/>
        </p:nvSpPr>
        <p:spPr>
          <a:xfrm>
            <a:off x="4534055" y="2275038"/>
            <a:ext cx="1379746" cy="45211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Test development</a:t>
            </a:r>
            <a:endParaRPr lang="en-US" sz="1400" dirty="0"/>
          </a:p>
        </p:txBody>
      </p:sp>
      <p:sp>
        <p:nvSpPr>
          <p:cNvPr id="17" name="Text 13"/>
          <p:cNvSpPr/>
          <p:nvPr/>
        </p:nvSpPr>
        <p:spPr>
          <a:xfrm>
            <a:off x="4534055" y="2752528"/>
            <a:ext cx="1379746"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Output: test cases, data, scripts</a:t>
            </a:r>
            <a:endParaRPr lang="en-US" sz="1200" dirty="0"/>
          </a:p>
        </p:txBody>
      </p:sp>
      <p:pic>
        <p:nvPicPr>
          <p:cNvPr id="18" name="Image 2" descr="connector">    </p:cNvPr>
          <p:cNvPicPr>
            <a:picLocks noChangeAspect="1"/>
          </p:cNvPicPr>
          <p:nvPr/>
        </p:nvPicPr>
        <p:blipFill>
          <a:blip r:embed="rId3"/>
          <a:srcRect l="-17" r="-17" t="0" b="0"/>
          <a:stretch/>
        </p:blipFill>
        <p:spPr>
          <a:xfrm>
            <a:off x="5994397" y="2556985"/>
            <a:ext cx="203192" cy="76171"/>
          </a:xfrm>
          <a:prstGeom prst="rect">
            <a:avLst/>
          </a:prstGeom>
        </p:spPr>
      </p:pic>
      <p:sp>
        <p:nvSpPr>
          <p:cNvPr id="19" name="Shape 14"/>
          <p:cNvSpPr/>
          <p:nvPr/>
        </p:nvSpPr>
        <p:spPr>
          <a:xfrm>
            <a:off x="6200764" y="1882682"/>
            <a:ext cx="1585422" cy="1424777"/>
          </a:xfrm>
          <a:prstGeom prst="roundRect">
            <a:avLst>
              <a:gd name="adj" fmla="val 6908"/>
            </a:avLst>
          </a:prstGeom>
          <a:solidFill>
            <a:srgbClr val="FBFAF7"/>
          </a:solidFill>
          <a:ln w="6350">
            <a:solidFill>
              <a:srgbClr val="DDD7CA"/>
            </a:solidFill>
            <a:prstDash val="solid"/>
          </a:ln>
        </p:spPr>
      </p:sp>
      <p:sp>
        <p:nvSpPr>
          <p:cNvPr id="20" name="Text 15"/>
          <p:cNvSpPr/>
          <p:nvPr/>
        </p:nvSpPr>
        <p:spPr>
          <a:xfrm>
            <a:off x="6328985" y="2010904"/>
            <a:ext cx="137978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04</a:t>
            </a:r>
            <a:endParaRPr lang="en-US" sz="1200" dirty="0"/>
          </a:p>
        </p:txBody>
      </p:sp>
      <p:sp>
        <p:nvSpPr>
          <p:cNvPr id="21" name="Text 16"/>
          <p:cNvSpPr/>
          <p:nvPr/>
        </p:nvSpPr>
        <p:spPr>
          <a:xfrm>
            <a:off x="6328985" y="2275038"/>
            <a:ext cx="1379780" cy="45211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Environment setup</a:t>
            </a:r>
            <a:endParaRPr lang="en-US" sz="1400" dirty="0"/>
          </a:p>
        </p:txBody>
      </p:sp>
      <p:sp>
        <p:nvSpPr>
          <p:cNvPr id="22" name="Text 17"/>
          <p:cNvSpPr/>
          <p:nvPr/>
        </p:nvSpPr>
        <p:spPr>
          <a:xfrm>
            <a:off x="6328985" y="2752528"/>
            <a:ext cx="1379780"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Output: ready env, smoke test</a:t>
            </a:r>
            <a:endParaRPr lang="en-US" sz="1200" dirty="0"/>
          </a:p>
        </p:txBody>
      </p:sp>
      <p:pic>
        <p:nvPicPr>
          <p:cNvPr id="23" name="Image 3" descr="connector">    </p:cNvPr>
          <p:cNvPicPr>
            <a:picLocks noChangeAspect="1"/>
          </p:cNvPicPr>
          <p:nvPr/>
        </p:nvPicPr>
        <p:blipFill>
          <a:blip r:embed="rId4"/>
          <a:srcRect l="-17" r="-17" t="0" b="0"/>
          <a:stretch/>
        </p:blipFill>
        <p:spPr>
          <a:xfrm>
            <a:off x="7789361" y="2556985"/>
            <a:ext cx="203192" cy="76171"/>
          </a:xfrm>
          <a:prstGeom prst="rect">
            <a:avLst/>
          </a:prstGeom>
        </p:spPr>
      </p:pic>
      <p:sp>
        <p:nvSpPr>
          <p:cNvPr id="24" name="Shape 18"/>
          <p:cNvSpPr/>
          <p:nvPr/>
        </p:nvSpPr>
        <p:spPr>
          <a:xfrm>
            <a:off x="7995727" y="1882682"/>
            <a:ext cx="1585387" cy="1424777"/>
          </a:xfrm>
          <a:prstGeom prst="roundRect">
            <a:avLst>
              <a:gd name="adj" fmla="val 6908"/>
            </a:avLst>
          </a:prstGeom>
          <a:solidFill>
            <a:srgbClr val="FBFAF7"/>
          </a:solidFill>
          <a:ln w="6350">
            <a:solidFill>
              <a:srgbClr val="DDD7CA"/>
            </a:solidFill>
            <a:prstDash val="solid"/>
          </a:ln>
        </p:spPr>
      </p:sp>
      <p:sp>
        <p:nvSpPr>
          <p:cNvPr id="25" name="Text 19"/>
          <p:cNvSpPr/>
          <p:nvPr/>
        </p:nvSpPr>
        <p:spPr>
          <a:xfrm>
            <a:off x="8123948" y="2010904"/>
            <a:ext cx="13797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05</a:t>
            </a:r>
            <a:endParaRPr lang="en-US" sz="1200" dirty="0"/>
          </a:p>
        </p:txBody>
      </p:sp>
      <p:sp>
        <p:nvSpPr>
          <p:cNvPr id="26" name="Text 20"/>
          <p:cNvSpPr/>
          <p:nvPr/>
        </p:nvSpPr>
        <p:spPr>
          <a:xfrm>
            <a:off x="8123948" y="2275038"/>
            <a:ext cx="1379746"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Test execution</a:t>
            </a:r>
            <a:endParaRPr lang="en-US" sz="1400" dirty="0"/>
          </a:p>
        </p:txBody>
      </p:sp>
      <p:sp>
        <p:nvSpPr>
          <p:cNvPr id="27" name="Text 21"/>
          <p:cNvSpPr/>
          <p:nvPr/>
        </p:nvSpPr>
        <p:spPr>
          <a:xfrm>
            <a:off x="8123948" y="2539174"/>
            <a:ext cx="1379746"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Output: results, defect reports</a:t>
            </a:r>
            <a:endParaRPr lang="en-US" sz="1200" dirty="0"/>
          </a:p>
        </p:txBody>
      </p:sp>
      <p:pic>
        <p:nvPicPr>
          <p:cNvPr id="28" name="Image 4" descr="connector">    </p:cNvPr>
          <p:cNvPicPr>
            <a:picLocks noChangeAspect="1"/>
          </p:cNvPicPr>
          <p:nvPr/>
        </p:nvPicPr>
        <p:blipFill>
          <a:blip r:embed="rId5"/>
          <a:srcRect l="-17" r="-17" t="0" b="0"/>
          <a:stretch/>
        </p:blipFill>
        <p:spPr>
          <a:xfrm>
            <a:off x="9584289" y="2556985"/>
            <a:ext cx="203192" cy="76171"/>
          </a:xfrm>
          <a:prstGeom prst="rect">
            <a:avLst/>
          </a:prstGeom>
        </p:spPr>
      </p:pic>
      <p:sp>
        <p:nvSpPr>
          <p:cNvPr id="29" name="Shape 22"/>
          <p:cNvSpPr/>
          <p:nvPr/>
        </p:nvSpPr>
        <p:spPr>
          <a:xfrm>
            <a:off x="9790657" y="1882682"/>
            <a:ext cx="1585387" cy="1424777"/>
          </a:xfrm>
          <a:prstGeom prst="roundRect">
            <a:avLst>
              <a:gd name="adj" fmla="val 6908"/>
            </a:avLst>
          </a:prstGeom>
          <a:solidFill>
            <a:srgbClr val="FBFAF7"/>
          </a:solidFill>
          <a:ln w="6350">
            <a:solidFill>
              <a:srgbClr val="DDD7CA"/>
            </a:solidFill>
            <a:prstDash val="solid"/>
          </a:ln>
        </p:spPr>
      </p:sp>
      <p:sp>
        <p:nvSpPr>
          <p:cNvPr id="30" name="Text 23"/>
          <p:cNvSpPr/>
          <p:nvPr/>
        </p:nvSpPr>
        <p:spPr>
          <a:xfrm>
            <a:off x="9918878" y="2010904"/>
            <a:ext cx="13797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06</a:t>
            </a:r>
            <a:endParaRPr lang="en-US" sz="1200" dirty="0"/>
          </a:p>
        </p:txBody>
      </p:sp>
      <p:sp>
        <p:nvSpPr>
          <p:cNvPr id="31" name="Text 24"/>
          <p:cNvSpPr/>
          <p:nvPr/>
        </p:nvSpPr>
        <p:spPr>
          <a:xfrm>
            <a:off x="9918878" y="2275038"/>
            <a:ext cx="1379746"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Test closure</a:t>
            </a:r>
            <a:endParaRPr lang="en-US" sz="1400" dirty="0"/>
          </a:p>
        </p:txBody>
      </p:sp>
      <p:sp>
        <p:nvSpPr>
          <p:cNvPr id="32" name="Text 25"/>
          <p:cNvSpPr/>
          <p:nvPr/>
        </p:nvSpPr>
        <p:spPr>
          <a:xfrm>
            <a:off x="9918878" y="2539174"/>
            <a:ext cx="1379746"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Output: summary report, lessons</a:t>
            </a:r>
            <a:endParaRPr lang="en-US" sz="1200" dirty="0"/>
          </a:p>
        </p:txBody>
      </p:sp>
      <p:sp>
        <p:nvSpPr>
          <p:cNvPr id="33" name="Shape 26"/>
          <p:cNvSpPr/>
          <p:nvPr/>
        </p:nvSpPr>
        <p:spPr>
          <a:xfrm>
            <a:off x="812767" y="3513826"/>
            <a:ext cx="10566452" cy="853350"/>
          </a:xfrm>
          <a:prstGeom prst="roundRect">
            <a:avLst>
              <a:gd name="adj" fmla="val 11906"/>
            </a:avLst>
          </a:prstGeom>
          <a:solidFill>
            <a:srgbClr val="F6E1D5"/>
          </a:solidFill>
          <a:ln/>
        </p:spPr>
      </p:sp>
      <p:sp>
        <p:nvSpPr>
          <p:cNvPr id="34" name="Text 27"/>
          <p:cNvSpPr/>
          <p:nvPr/>
        </p:nvSpPr>
        <p:spPr>
          <a:xfrm>
            <a:off x="1015959" y="3803317"/>
            <a:ext cx="2354573"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Defect management</a:t>
            </a:r>
            <a:endParaRPr lang="en-US" sz="1800" dirty="0"/>
          </a:p>
        </p:txBody>
      </p:sp>
      <p:sp>
        <p:nvSpPr>
          <p:cNvPr id="35" name="Text 28"/>
          <p:cNvSpPr/>
          <p:nvPr/>
        </p:nvSpPr>
        <p:spPr>
          <a:xfrm>
            <a:off x="3555924" y="3691593"/>
            <a:ext cx="7848706" cy="52321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Runs alongside execution: every failed test becomes a defect that is logged, triaged, fixed, retested and regression-checked until exit criteria are met.</a:t>
            </a:r>
            <a:endParaRPr lang="en-US" sz="1400" dirty="0"/>
          </a:p>
        </p:txBody>
      </p:sp>
      <p:sp>
        <p:nvSpPr>
          <p:cNvPr id="36" name="Text 29"/>
          <p:cNvSpPr/>
          <p:nvPr/>
        </p:nvSpPr>
        <p:spPr>
          <a:xfrm>
            <a:off x="812767" y="6238241"/>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37" name="Text 30"/>
          <p:cNvSpPr/>
          <p:nvPr/>
        </p:nvSpPr>
        <p:spPr>
          <a:xfrm>
            <a:off x="10058419" y="6238241"/>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6"/>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PHASE 01 · REQUIREMENT ANALYSIS</a:t>
            </a:r>
            <a:endParaRPr lang="en-US" sz="1200" dirty="0"/>
          </a:p>
        </p:txBody>
      </p:sp>
      <p:sp>
        <p:nvSpPr>
          <p:cNvPr id="3" name="Text 1"/>
          <p:cNvSpPr/>
          <p:nvPr/>
        </p:nvSpPr>
        <p:spPr>
          <a:xfrm>
            <a:off x="812767" y="1127717"/>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Testing starts before any code exists</a:t>
            </a:r>
            <a:endParaRPr lang="en-US" sz="3200" dirty="0"/>
          </a:p>
        </p:txBody>
      </p:sp>
      <p:sp>
        <p:nvSpPr>
          <p:cNvPr id="4" name="Text 2"/>
          <p:cNvSpPr/>
          <p:nvPr/>
        </p:nvSpPr>
        <p:spPr>
          <a:xfrm>
            <a:off x="812767" y="1879507"/>
            <a:ext cx="4055096" cy="1259847"/>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6202E"/>
                </a:solidFill>
                <a:latin typeface="IBM Plex Sans" pitchFamily="34" charset="0"/>
                <a:ea typeface="IBM Plex Sans" pitchFamily="34" charset="-122"/>
                <a:cs typeface="IBM Plex Sans" pitchFamily="34" charset="-120"/>
              </a:rPr>
              <a:t>Testers review requirements to find gaps, ambiguity and untestable statements. The cheapest defect to fix is one caught on paper.</a:t>
            </a:r>
            <a:endParaRPr lang="en-US" sz="1800" dirty="0"/>
          </a:p>
        </p:txBody>
      </p:sp>
      <p:sp>
        <p:nvSpPr>
          <p:cNvPr id="5" name="Shape 3"/>
          <p:cNvSpPr/>
          <p:nvPr/>
        </p:nvSpPr>
        <p:spPr>
          <a:xfrm>
            <a:off x="812767" y="3317143"/>
            <a:ext cx="3936986" cy="1310549"/>
          </a:xfrm>
          <a:prstGeom prst="roundRect">
            <a:avLst>
              <a:gd name="adj" fmla="val 7752"/>
            </a:avLst>
          </a:prstGeom>
          <a:solidFill>
            <a:srgbClr val="ECE7DC"/>
          </a:solidFill>
          <a:ln/>
        </p:spPr>
      </p:sp>
      <p:sp>
        <p:nvSpPr>
          <p:cNvPr id="6" name="Text 4"/>
          <p:cNvSpPr/>
          <p:nvPr/>
        </p:nvSpPr>
        <p:spPr>
          <a:xfrm>
            <a:off x="990534" y="3494912"/>
            <a:ext cx="3688896" cy="4521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Entry:</a:t>
            </a:r>
            <a:r>
              <a:rPr lang="en-US" sz="1200" dirty="0">
                <a:solidFill>
                  <a:srgbClr val="16202E"/>
                </a:solidFill>
                <a:latin typeface="IBM Plex Sans" pitchFamily="34" charset="0"/>
                <a:ea typeface="IBM Plex Sans" pitchFamily="34" charset="-122"/>
                <a:cs typeface="IBM Plex Sans" pitchFamily="34" charset="-120"/>
              </a:rPr>
              <a:t> requirement docs or user stories available (BRD, SRS, backlog)</a:t>
            </a:r>
            <a:endParaRPr lang="en-US" sz="1200" dirty="0"/>
          </a:p>
        </p:txBody>
      </p:sp>
      <p:sp>
        <p:nvSpPr>
          <p:cNvPr id="7" name="Text 5"/>
          <p:cNvSpPr/>
          <p:nvPr/>
        </p:nvSpPr>
        <p:spPr>
          <a:xfrm>
            <a:off x="990534" y="4023218"/>
            <a:ext cx="3688896" cy="4521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Exit:</a:t>
            </a:r>
            <a:r>
              <a:rPr lang="en-US" sz="1200" dirty="0">
                <a:solidFill>
                  <a:srgbClr val="16202E"/>
                </a:solidFill>
                <a:latin typeface="IBM Plex Sans" pitchFamily="34" charset="0"/>
                <a:ea typeface="IBM Plex Sans" pitchFamily="34" charset="-122"/>
                <a:cs typeface="IBM Plex Sans" pitchFamily="34" charset="-120"/>
              </a:rPr>
              <a:t> questions resolved, RTM drafted, automation candidates noted</a:t>
            </a:r>
            <a:endParaRPr lang="en-US" sz="1200" dirty="0"/>
          </a:p>
        </p:txBody>
      </p:sp>
      <p:sp>
        <p:nvSpPr>
          <p:cNvPr id="8" name="Shape 6"/>
          <p:cNvSpPr/>
          <p:nvPr/>
        </p:nvSpPr>
        <p:spPr>
          <a:xfrm>
            <a:off x="5168836" y="1879507"/>
            <a:ext cx="0" cy="520657"/>
          </a:xfrm>
          <a:prstGeom prst="line">
            <a:avLst/>
          </a:prstGeom>
          <a:noFill/>
          <a:ln w="25400">
            <a:solidFill>
              <a:srgbClr val="B8481A"/>
            </a:solidFill>
            <a:prstDash val="solid"/>
          </a:ln>
        </p:spPr>
      </p:sp>
      <p:sp>
        <p:nvSpPr>
          <p:cNvPr id="9" name="Text 7"/>
          <p:cNvSpPr/>
          <p:nvPr/>
        </p:nvSpPr>
        <p:spPr>
          <a:xfrm>
            <a:off x="5332766" y="1904898"/>
            <a:ext cx="6227846" cy="25653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6202E"/>
                </a:solidFill>
                <a:latin typeface="IBM Plex Sans" pitchFamily="34" charset="0"/>
                <a:ea typeface="IBM Plex Sans" pitchFamily="34" charset="-122"/>
                <a:cs typeface="IBM Plex Sans" pitchFamily="34" charset="-120"/>
              </a:rPr>
              <a:t>Study the requirements</a:t>
            </a:r>
            <a:endParaRPr lang="en-US" sz="1400" dirty="0"/>
          </a:p>
        </p:txBody>
      </p:sp>
      <p:sp>
        <p:nvSpPr>
          <p:cNvPr id="10" name="Text 8"/>
          <p:cNvSpPr/>
          <p:nvPr/>
        </p:nvSpPr>
        <p:spPr>
          <a:xfrm>
            <a:off x="5332766" y="2161418"/>
            <a:ext cx="62278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Functional and non-functional: performance, security, usability.</a:t>
            </a:r>
            <a:endParaRPr lang="en-US" sz="1200" dirty="0"/>
          </a:p>
        </p:txBody>
      </p:sp>
      <p:sp>
        <p:nvSpPr>
          <p:cNvPr id="11" name="Shape 9"/>
          <p:cNvSpPr/>
          <p:nvPr/>
        </p:nvSpPr>
        <p:spPr>
          <a:xfrm>
            <a:off x="5168836" y="2527151"/>
            <a:ext cx="0" cy="520657"/>
          </a:xfrm>
          <a:prstGeom prst="line">
            <a:avLst/>
          </a:prstGeom>
          <a:noFill/>
          <a:ln w="25400">
            <a:solidFill>
              <a:srgbClr val="B8481A"/>
            </a:solidFill>
            <a:prstDash val="solid"/>
          </a:ln>
        </p:spPr>
      </p:sp>
      <p:sp>
        <p:nvSpPr>
          <p:cNvPr id="12" name="Text 10"/>
          <p:cNvSpPr/>
          <p:nvPr/>
        </p:nvSpPr>
        <p:spPr>
          <a:xfrm>
            <a:off x="5332766" y="2552539"/>
            <a:ext cx="6227846" cy="25653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6202E"/>
                </a:solidFill>
                <a:latin typeface="IBM Plex Sans" pitchFamily="34" charset="0"/>
                <a:ea typeface="IBM Plex Sans" pitchFamily="34" charset="-122"/>
                <a:cs typeface="IBM Plex Sans" pitchFamily="34" charset="-120"/>
              </a:rPr>
              <a:t>Ask questions</a:t>
            </a:r>
            <a:endParaRPr lang="en-US" sz="1400" dirty="0"/>
          </a:p>
        </p:txBody>
      </p:sp>
      <p:sp>
        <p:nvSpPr>
          <p:cNvPr id="13" name="Text 11"/>
          <p:cNvSpPr/>
          <p:nvPr/>
        </p:nvSpPr>
        <p:spPr>
          <a:xfrm>
            <a:off x="5332766" y="2809063"/>
            <a:ext cx="62278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Clarify ambiguity with the BA, product owner and developers.</a:t>
            </a:r>
            <a:endParaRPr lang="en-US" sz="1200" dirty="0"/>
          </a:p>
        </p:txBody>
      </p:sp>
      <p:sp>
        <p:nvSpPr>
          <p:cNvPr id="14" name="Shape 12"/>
          <p:cNvSpPr/>
          <p:nvPr/>
        </p:nvSpPr>
        <p:spPr>
          <a:xfrm>
            <a:off x="5168836" y="3174792"/>
            <a:ext cx="0" cy="520657"/>
          </a:xfrm>
          <a:prstGeom prst="line">
            <a:avLst/>
          </a:prstGeom>
          <a:noFill/>
          <a:ln w="25400">
            <a:solidFill>
              <a:srgbClr val="B8481A"/>
            </a:solidFill>
            <a:prstDash val="solid"/>
          </a:ln>
        </p:spPr>
      </p:sp>
      <p:sp>
        <p:nvSpPr>
          <p:cNvPr id="15" name="Text 13"/>
          <p:cNvSpPr/>
          <p:nvPr/>
        </p:nvSpPr>
        <p:spPr>
          <a:xfrm>
            <a:off x="5332766" y="3200183"/>
            <a:ext cx="6227846" cy="25653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6202E"/>
                </a:solidFill>
                <a:latin typeface="IBM Plex Sans" pitchFamily="34" charset="0"/>
                <a:ea typeface="IBM Plex Sans" pitchFamily="34" charset="-122"/>
                <a:cs typeface="IBM Plex Sans" pitchFamily="34" charset="-120"/>
              </a:rPr>
              <a:t>Identify what is testable</a:t>
            </a:r>
            <a:endParaRPr lang="en-US" sz="1400" dirty="0"/>
          </a:p>
        </p:txBody>
      </p:sp>
      <p:sp>
        <p:nvSpPr>
          <p:cNvPr id="16" name="Text 14"/>
          <p:cNvSpPr/>
          <p:nvPr/>
        </p:nvSpPr>
        <p:spPr>
          <a:xfrm>
            <a:off x="5332766" y="3456707"/>
            <a:ext cx="62278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Agree acceptance criteria for every item.</a:t>
            </a:r>
            <a:endParaRPr lang="en-US" sz="1200" dirty="0"/>
          </a:p>
        </p:txBody>
      </p:sp>
      <p:sp>
        <p:nvSpPr>
          <p:cNvPr id="17" name="Shape 15"/>
          <p:cNvSpPr/>
          <p:nvPr/>
        </p:nvSpPr>
        <p:spPr>
          <a:xfrm>
            <a:off x="5168836" y="3822436"/>
            <a:ext cx="0" cy="520657"/>
          </a:xfrm>
          <a:prstGeom prst="line">
            <a:avLst/>
          </a:prstGeom>
          <a:noFill/>
          <a:ln w="25400">
            <a:solidFill>
              <a:srgbClr val="B8481A"/>
            </a:solidFill>
            <a:prstDash val="solid"/>
          </a:ln>
        </p:spPr>
      </p:sp>
      <p:sp>
        <p:nvSpPr>
          <p:cNvPr id="18" name="Text 16"/>
          <p:cNvSpPr/>
          <p:nvPr/>
        </p:nvSpPr>
        <p:spPr>
          <a:xfrm>
            <a:off x="5332766" y="3847827"/>
            <a:ext cx="6227846" cy="25653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6202E"/>
                </a:solidFill>
                <a:latin typeface="IBM Plex Sans" pitchFamily="34" charset="0"/>
                <a:ea typeface="IBM Plex Sans" pitchFamily="34" charset="-122"/>
                <a:cs typeface="IBM Plex Sans" pitchFamily="34" charset="-120"/>
              </a:rPr>
              <a:t>Build the traceability matrix</a:t>
            </a:r>
            <a:endParaRPr lang="en-US" sz="1400" dirty="0"/>
          </a:p>
        </p:txBody>
      </p:sp>
      <p:sp>
        <p:nvSpPr>
          <p:cNvPr id="19" name="Text 17"/>
          <p:cNvSpPr/>
          <p:nvPr/>
        </p:nvSpPr>
        <p:spPr>
          <a:xfrm>
            <a:off x="5332766" y="4104348"/>
            <a:ext cx="62278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Map every requirement to the tests that will cover it.</a:t>
            </a:r>
            <a:endParaRPr lang="en-US" sz="1200" dirty="0"/>
          </a:p>
        </p:txBody>
      </p:sp>
      <p:sp>
        <p:nvSpPr>
          <p:cNvPr id="20" name="Shape 18"/>
          <p:cNvSpPr/>
          <p:nvPr/>
        </p:nvSpPr>
        <p:spPr>
          <a:xfrm>
            <a:off x="5168836" y="4470081"/>
            <a:ext cx="0" cy="520657"/>
          </a:xfrm>
          <a:prstGeom prst="line">
            <a:avLst/>
          </a:prstGeom>
          <a:noFill/>
          <a:ln w="25400">
            <a:solidFill>
              <a:srgbClr val="B8481A"/>
            </a:solidFill>
            <a:prstDash val="solid"/>
          </a:ln>
        </p:spPr>
      </p:sp>
      <p:sp>
        <p:nvSpPr>
          <p:cNvPr id="21" name="Text 19"/>
          <p:cNvSpPr/>
          <p:nvPr/>
        </p:nvSpPr>
        <p:spPr>
          <a:xfrm>
            <a:off x="5332766" y="4495471"/>
            <a:ext cx="6227846" cy="25653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6202E"/>
                </a:solidFill>
                <a:latin typeface="IBM Plex Sans" pitchFamily="34" charset="0"/>
                <a:ea typeface="IBM Plex Sans" pitchFamily="34" charset="-122"/>
                <a:cs typeface="IBM Plex Sans" pitchFamily="34" charset="-120"/>
              </a:rPr>
              <a:t>Spot automation candidates</a:t>
            </a:r>
            <a:endParaRPr lang="en-US" sz="1400" dirty="0"/>
          </a:p>
        </p:txBody>
      </p:sp>
      <p:sp>
        <p:nvSpPr>
          <p:cNvPr id="22" name="Text 20"/>
          <p:cNvSpPr/>
          <p:nvPr/>
        </p:nvSpPr>
        <p:spPr>
          <a:xfrm>
            <a:off x="5332766" y="4751992"/>
            <a:ext cx="62278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Stable, repetitive, high-value flows.</a:t>
            </a:r>
            <a:endParaRPr lang="en-US" sz="1200" dirty="0"/>
          </a:p>
        </p:txBody>
      </p:sp>
      <p:sp>
        <p:nvSpPr>
          <p:cNvPr id="23" name="Text 21"/>
          <p:cNvSpPr/>
          <p:nvPr/>
        </p:nvSpPr>
        <p:spPr>
          <a:xfrm>
            <a:off x="812767" y="6238239"/>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24" name="Text 22"/>
          <p:cNvSpPr/>
          <p:nvPr/>
        </p:nvSpPr>
        <p:spPr>
          <a:xfrm>
            <a:off x="10058419" y="6238239"/>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9"/>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PHASE 01 · REQUIREMENT ANALYSIS</a:t>
            </a:r>
            <a:endParaRPr lang="en-US" sz="1200" dirty="0"/>
          </a:p>
        </p:txBody>
      </p:sp>
      <p:sp>
        <p:nvSpPr>
          <p:cNvPr id="3" name="Text 1"/>
          <p:cNvSpPr/>
          <p:nvPr/>
        </p:nvSpPr>
        <p:spPr>
          <a:xfrm>
            <a:off x="812767" y="1127717"/>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Make every requirement testable</a:t>
            </a:r>
            <a:endParaRPr lang="en-US" sz="3200" dirty="0"/>
          </a:p>
        </p:txBody>
      </p:sp>
      <p:sp>
        <p:nvSpPr>
          <p:cNvPr id="4" name="Shape 2"/>
          <p:cNvSpPr/>
          <p:nvPr/>
        </p:nvSpPr>
        <p:spPr>
          <a:xfrm>
            <a:off x="812767" y="1879507"/>
            <a:ext cx="5181630" cy="2478918"/>
          </a:xfrm>
          <a:prstGeom prst="roundRect">
            <a:avLst>
              <a:gd name="adj" fmla="val 4099"/>
            </a:avLst>
          </a:prstGeom>
          <a:solidFill>
            <a:srgbClr val="F6E1D5"/>
          </a:solidFill>
          <a:ln/>
        </p:spPr>
      </p:sp>
      <p:sp>
        <p:nvSpPr>
          <p:cNvPr id="5" name="Text 3"/>
          <p:cNvSpPr/>
          <p:nvPr/>
        </p:nvSpPr>
        <p:spPr>
          <a:xfrm>
            <a:off x="1066739" y="2133479"/>
            <a:ext cx="4813896"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E3510"/>
                </a:solidFill>
                <a:latin typeface="JetBrains Mono" pitchFamily="34" charset="0"/>
                <a:ea typeface="JetBrains Mono" pitchFamily="34" charset="-122"/>
                <a:cs typeface="JetBrains Mono" pitchFamily="34" charset="-120"/>
              </a:rPr>
              <a:t>VAGUE</a:t>
            </a:r>
            <a:endParaRPr lang="en-US" sz="1200" dirty="0"/>
          </a:p>
        </p:txBody>
      </p:sp>
      <p:sp>
        <p:nvSpPr>
          <p:cNvPr id="6" name="Text 4"/>
          <p:cNvSpPr/>
          <p:nvPr/>
        </p:nvSpPr>
        <p:spPr>
          <a:xfrm>
            <a:off x="1066739" y="2473821"/>
            <a:ext cx="4813896" cy="695953"/>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6202E"/>
                </a:solidFill>
                <a:latin typeface="Space Grotesk" pitchFamily="34" charset="0"/>
                <a:ea typeface="Space Grotesk" pitchFamily="34" charset="-122"/>
                <a:cs typeface="Space Grotesk" pitchFamily="34" charset="-120"/>
              </a:rPr>
              <a:t>“The search page should load fast.”</a:t>
            </a:r>
            <a:endParaRPr lang="en-US" sz="2200" dirty="0"/>
          </a:p>
        </p:txBody>
      </p:sp>
      <p:sp>
        <p:nvSpPr>
          <p:cNvPr id="7" name="Text 5"/>
          <p:cNvSpPr/>
          <p:nvPr/>
        </p:nvSpPr>
        <p:spPr>
          <a:xfrm>
            <a:off x="1066739" y="3271360"/>
            <a:ext cx="4813896" cy="52321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Fast for whom? Measured how? Under what load? Nobody can say whether it passed.</a:t>
            </a:r>
            <a:endParaRPr lang="en-US" sz="1400" dirty="0"/>
          </a:p>
        </p:txBody>
      </p:sp>
      <p:sp>
        <p:nvSpPr>
          <p:cNvPr id="8" name="Shape 6"/>
          <p:cNvSpPr/>
          <p:nvPr/>
        </p:nvSpPr>
        <p:spPr>
          <a:xfrm>
            <a:off x="6197589" y="1879507"/>
            <a:ext cx="5181630" cy="2478918"/>
          </a:xfrm>
          <a:prstGeom prst="roundRect">
            <a:avLst>
              <a:gd name="adj" fmla="val 4099"/>
            </a:avLst>
          </a:prstGeom>
          <a:solidFill>
            <a:srgbClr val="DCE6F3"/>
          </a:solidFill>
          <a:ln/>
        </p:spPr>
      </p:sp>
      <p:sp>
        <p:nvSpPr>
          <p:cNvPr id="9" name="Text 7"/>
          <p:cNvSpPr/>
          <p:nvPr/>
        </p:nvSpPr>
        <p:spPr>
          <a:xfrm>
            <a:off x="6451561" y="2133479"/>
            <a:ext cx="4813896"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4A85"/>
                </a:solidFill>
                <a:latin typeface="JetBrains Mono" pitchFamily="34" charset="0"/>
                <a:ea typeface="JetBrains Mono" pitchFamily="34" charset="-122"/>
                <a:cs typeface="JetBrains Mono" pitchFamily="34" charset="-120"/>
              </a:rPr>
              <a:t>TESTABLE</a:t>
            </a:r>
            <a:endParaRPr lang="en-US" sz="1200" dirty="0"/>
          </a:p>
        </p:txBody>
      </p:sp>
      <p:sp>
        <p:nvSpPr>
          <p:cNvPr id="10" name="Text 8"/>
          <p:cNvSpPr/>
          <p:nvPr/>
        </p:nvSpPr>
        <p:spPr>
          <a:xfrm>
            <a:off x="6451561" y="2473821"/>
            <a:ext cx="4813896" cy="103123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6202E"/>
                </a:solidFill>
                <a:latin typeface="Space Grotesk" pitchFamily="34" charset="0"/>
                <a:ea typeface="Space Grotesk" pitchFamily="34" charset="-122"/>
                <a:cs typeface="Space Grotesk" pitchFamily="34" charset="-120"/>
              </a:rPr>
              <a:t>“Search results appear within 2 seconds for 95% of requests with 500 concurrent users.”</a:t>
            </a:r>
            <a:endParaRPr lang="en-US" sz="2200" dirty="0"/>
          </a:p>
        </p:txBody>
      </p:sp>
      <p:sp>
        <p:nvSpPr>
          <p:cNvPr id="11" name="Text 9"/>
          <p:cNvSpPr/>
          <p:nvPr/>
        </p:nvSpPr>
        <p:spPr>
          <a:xfrm>
            <a:off x="6451561" y="3606636"/>
            <a:ext cx="4813896" cy="52321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A number, a condition and a measure: pass or fail is objective.</a:t>
            </a:r>
            <a:endParaRPr lang="en-US" sz="1400" dirty="0"/>
          </a:p>
        </p:txBody>
      </p:sp>
      <p:sp>
        <p:nvSpPr>
          <p:cNvPr id="12" name="Text 10"/>
          <p:cNvSpPr/>
          <p:nvPr/>
        </p:nvSpPr>
        <p:spPr>
          <a:xfrm>
            <a:off x="812767" y="4713994"/>
            <a:ext cx="1651047"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A good requirement is:</a:t>
            </a:r>
            <a:endParaRPr lang="en-US" sz="1200" dirty="0"/>
          </a:p>
        </p:txBody>
      </p:sp>
      <p:sp>
        <p:nvSpPr>
          <p:cNvPr id="13" name="Shape 11"/>
          <p:cNvSpPr/>
          <p:nvPr/>
        </p:nvSpPr>
        <p:spPr>
          <a:xfrm>
            <a:off x="2514609" y="4663213"/>
            <a:ext cx="611057" cy="314916"/>
          </a:xfrm>
          <a:prstGeom prst="roundRect">
            <a:avLst>
              <a:gd name="adj" fmla="val 50000"/>
            </a:avLst>
          </a:prstGeom>
          <a:solidFill>
            <a:srgbClr val="ECE7DC"/>
          </a:solidFill>
          <a:ln/>
        </p:spPr>
      </p:sp>
      <p:sp>
        <p:nvSpPr>
          <p:cNvPr id="14" name="Text 12"/>
          <p:cNvSpPr/>
          <p:nvPr/>
        </p:nvSpPr>
        <p:spPr>
          <a:xfrm>
            <a:off x="2641609" y="4714013"/>
            <a:ext cx="407857"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Clear</a:t>
            </a:r>
            <a:endParaRPr lang="en-US" sz="1200" dirty="0"/>
          </a:p>
        </p:txBody>
      </p:sp>
      <p:sp>
        <p:nvSpPr>
          <p:cNvPr id="15" name="Shape 13"/>
          <p:cNvSpPr/>
          <p:nvPr/>
        </p:nvSpPr>
        <p:spPr>
          <a:xfrm>
            <a:off x="3227262" y="4663213"/>
            <a:ext cx="917084" cy="314916"/>
          </a:xfrm>
          <a:prstGeom prst="roundRect">
            <a:avLst>
              <a:gd name="adj" fmla="val 50000"/>
            </a:avLst>
          </a:prstGeom>
          <a:solidFill>
            <a:srgbClr val="ECE7DC"/>
          </a:solidFill>
          <a:ln/>
        </p:spPr>
      </p:sp>
      <p:sp>
        <p:nvSpPr>
          <p:cNvPr id="16" name="Text 14"/>
          <p:cNvSpPr/>
          <p:nvPr/>
        </p:nvSpPr>
        <p:spPr>
          <a:xfrm>
            <a:off x="3354262" y="4714013"/>
            <a:ext cx="713884"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Complete</a:t>
            </a:r>
            <a:endParaRPr lang="en-US" sz="1200" dirty="0"/>
          </a:p>
        </p:txBody>
      </p:sp>
      <p:sp>
        <p:nvSpPr>
          <p:cNvPr id="17" name="Shape 15"/>
          <p:cNvSpPr/>
          <p:nvPr/>
        </p:nvSpPr>
        <p:spPr>
          <a:xfrm>
            <a:off x="4245942" y="4663213"/>
            <a:ext cx="982610" cy="314916"/>
          </a:xfrm>
          <a:prstGeom prst="roundRect">
            <a:avLst>
              <a:gd name="adj" fmla="val 50000"/>
            </a:avLst>
          </a:prstGeom>
          <a:solidFill>
            <a:srgbClr val="ECE7DC"/>
          </a:solidFill>
          <a:ln/>
        </p:spPr>
      </p:sp>
      <p:sp>
        <p:nvSpPr>
          <p:cNvPr id="18" name="Text 16"/>
          <p:cNvSpPr/>
          <p:nvPr/>
        </p:nvSpPr>
        <p:spPr>
          <a:xfrm>
            <a:off x="4372942" y="4714013"/>
            <a:ext cx="779410"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Consistent</a:t>
            </a:r>
            <a:endParaRPr lang="en-US" sz="1200" dirty="0"/>
          </a:p>
        </p:txBody>
      </p:sp>
      <p:sp>
        <p:nvSpPr>
          <p:cNvPr id="19" name="Shape 17"/>
          <p:cNvSpPr/>
          <p:nvPr/>
        </p:nvSpPr>
        <p:spPr>
          <a:xfrm>
            <a:off x="5330148" y="4663213"/>
            <a:ext cx="1053786" cy="314916"/>
          </a:xfrm>
          <a:prstGeom prst="roundRect">
            <a:avLst>
              <a:gd name="adj" fmla="val 50000"/>
            </a:avLst>
          </a:prstGeom>
          <a:solidFill>
            <a:srgbClr val="ECE7DC"/>
          </a:solidFill>
          <a:ln/>
        </p:spPr>
      </p:sp>
      <p:sp>
        <p:nvSpPr>
          <p:cNvPr id="20" name="Text 18"/>
          <p:cNvSpPr/>
          <p:nvPr/>
        </p:nvSpPr>
        <p:spPr>
          <a:xfrm>
            <a:off x="5457148" y="4714013"/>
            <a:ext cx="850586"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Measurable</a:t>
            </a:r>
            <a:endParaRPr lang="en-US" sz="1200" dirty="0"/>
          </a:p>
        </p:txBody>
      </p:sp>
      <p:sp>
        <p:nvSpPr>
          <p:cNvPr id="21" name="Shape 19"/>
          <p:cNvSpPr/>
          <p:nvPr/>
        </p:nvSpPr>
        <p:spPr>
          <a:xfrm>
            <a:off x="6485530" y="4663213"/>
            <a:ext cx="1197343" cy="314916"/>
          </a:xfrm>
          <a:prstGeom prst="roundRect">
            <a:avLst>
              <a:gd name="adj" fmla="val 50000"/>
            </a:avLst>
          </a:prstGeom>
          <a:solidFill>
            <a:srgbClr val="ECE7DC"/>
          </a:solidFill>
          <a:ln/>
        </p:spPr>
      </p:sp>
      <p:sp>
        <p:nvSpPr>
          <p:cNvPr id="22" name="Text 20"/>
          <p:cNvSpPr/>
          <p:nvPr/>
        </p:nvSpPr>
        <p:spPr>
          <a:xfrm>
            <a:off x="6612530" y="4714013"/>
            <a:ext cx="994143"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Unambiguous</a:t>
            </a:r>
            <a:endParaRPr lang="en-US" sz="1200" dirty="0"/>
          </a:p>
        </p:txBody>
      </p:sp>
      <p:sp>
        <p:nvSpPr>
          <p:cNvPr id="23" name="Shape 21"/>
          <p:cNvSpPr/>
          <p:nvPr/>
        </p:nvSpPr>
        <p:spPr>
          <a:xfrm>
            <a:off x="7784468" y="4663213"/>
            <a:ext cx="925318" cy="314916"/>
          </a:xfrm>
          <a:prstGeom prst="roundRect">
            <a:avLst>
              <a:gd name="adj" fmla="val 50000"/>
            </a:avLst>
          </a:prstGeom>
          <a:solidFill>
            <a:srgbClr val="ECE7DC"/>
          </a:solidFill>
          <a:ln/>
        </p:spPr>
      </p:sp>
      <p:sp>
        <p:nvSpPr>
          <p:cNvPr id="24" name="Text 22"/>
          <p:cNvSpPr/>
          <p:nvPr/>
        </p:nvSpPr>
        <p:spPr>
          <a:xfrm>
            <a:off x="7911468" y="4714013"/>
            <a:ext cx="722118"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Traceable</a:t>
            </a:r>
            <a:endParaRPr lang="en-US" sz="1200" dirty="0"/>
          </a:p>
        </p:txBody>
      </p:sp>
      <p:sp>
        <p:nvSpPr>
          <p:cNvPr id="25" name="Text 23"/>
          <p:cNvSpPr/>
          <p:nvPr/>
        </p:nvSpPr>
        <p:spPr>
          <a:xfrm>
            <a:off x="812767" y="623824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26" name="Text 24"/>
          <p:cNvSpPr/>
          <p:nvPr/>
        </p:nvSpPr>
        <p:spPr>
          <a:xfrm>
            <a:off x="10058419" y="6238242"/>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9"/>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PHASE 01 · REQUIREMENT ANALYSIS</a:t>
            </a:r>
            <a:endParaRPr lang="en-US" sz="1200" dirty="0"/>
          </a:p>
        </p:txBody>
      </p:sp>
      <p:sp>
        <p:nvSpPr>
          <p:cNvPr id="3" name="Text 1"/>
          <p:cNvSpPr/>
          <p:nvPr/>
        </p:nvSpPr>
        <p:spPr>
          <a:xfrm>
            <a:off x="812767" y="1127720"/>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The Requirement Traceability Matrix</a:t>
            </a:r>
            <a:endParaRPr lang="en-US" sz="3200" dirty="0"/>
          </a:p>
        </p:txBody>
      </p:sp>
      <p:sp>
        <p:nvSpPr>
          <p:cNvPr id="4" name="Text 2"/>
          <p:cNvSpPr/>
          <p:nvPr/>
        </p:nvSpPr>
        <p:spPr>
          <a:xfrm>
            <a:off x="812767" y="1676316"/>
            <a:ext cx="10883445"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Links each requirement to its tests and defects, so nothing goes untested and every change shows its impact.</a:t>
            </a:r>
            <a:endParaRPr lang="en-US" sz="1400" dirty="0"/>
          </a:p>
        </p:txBody>
      </p:sp>
      <p:sp>
        <p:nvSpPr>
          <p:cNvPr id="5" name="Shape 3"/>
          <p:cNvSpPr/>
          <p:nvPr/>
        </p:nvSpPr>
        <p:spPr>
          <a:xfrm>
            <a:off x="812767" y="2179197"/>
            <a:ext cx="10566452" cy="1937280"/>
          </a:xfrm>
          <a:prstGeom prst="rect">
            <a:avLst/>
          </a:prstGeom>
          <a:solidFill>
            <a:srgbClr val="FBFAF7"/>
          </a:solidFill>
          <a:ln/>
        </p:spPr>
      </p:sp>
      <p:sp>
        <p:nvSpPr>
          <p:cNvPr id="6" name="Shape 4"/>
          <p:cNvSpPr/>
          <p:nvPr/>
        </p:nvSpPr>
        <p:spPr>
          <a:xfrm>
            <a:off x="11376044" y="2179197"/>
            <a:ext cx="0" cy="1937280"/>
          </a:xfrm>
          <a:prstGeom prst="line">
            <a:avLst/>
          </a:prstGeom>
          <a:noFill/>
          <a:ln w="6350">
            <a:solidFill>
              <a:srgbClr val="DDD7CA"/>
            </a:solidFill>
            <a:prstDash val="solid"/>
          </a:ln>
        </p:spPr>
      </p:sp>
      <p:sp>
        <p:nvSpPr>
          <p:cNvPr id="7" name="Shape 5"/>
          <p:cNvSpPr/>
          <p:nvPr/>
        </p:nvSpPr>
        <p:spPr>
          <a:xfrm>
            <a:off x="812767" y="4113303"/>
            <a:ext cx="10566452" cy="0"/>
          </a:xfrm>
          <a:prstGeom prst="line">
            <a:avLst/>
          </a:prstGeom>
          <a:noFill/>
          <a:ln w="6350">
            <a:solidFill>
              <a:srgbClr val="DDD7CA"/>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3791" y="2190222"/>
          <a:ext cx="10551018" cy="1921846"/>
        </p:xfrm>
        <a:graphic>
          <a:graphicData uri="http://schemas.openxmlformats.org/drawingml/2006/table">
            <a:tbl>
              <a:tblPr/>
              <a:tblGrid>
                <a:gridCol w="1266122"/>
                <a:gridCol w="4220407"/>
                <a:gridCol w="2110204"/>
                <a:gridCol w="1582653"/>
                <a:gridCol w="1371632"/>
              </a:tblGrid>
              <a:tr h="384369">
                <a:tc>
                  <a:txBody>
                    <a:bodyPr/>
                    <a:lstStyle/>
                    <a:p>
                      <a:pPr indent="0" marL="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Req 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Requirement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Test cases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Status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Defects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84369">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REQ-01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User logs in with email and password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TC-001–003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F4A85"/>
                          </a:solidFill>
                          <a:latin typeface="IBM Plex Sans" pitchFamily="34" charset="0"/>
                          <a:ea typeface="IBM Plex Sans" pitchFamily="34" charset="-122"/>
                          <a:cs typeface="IBM Plex Sans" pitchFamily="34" charset="-120"/>
                        </a:rPr>
                        <a:t>Passed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4369">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REQ-02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Account locks after 5 failed logins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TC-004, TC-005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8E3510"/>
                          </a:solidFill>
                          <a:latin typeface="IBM Plex Sans" pitchFamily="34" charset="0"/>
                          <a:ea typeface="IBM Plex Sans" pitchFamily="34" charset="-122"/>
                          <a:cs typeface="IBM Plex Sans" pitchFamily="34" charset="-120"/>
                        </a:rPr>
                        <a:t>Failed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BUG-112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r>
              <a:tr h="384369">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REQ-03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User resets password via email link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TC-006, TC-007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In progress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4369">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REQ-04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Session expires after 30 min idle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8E3510"/>
                          </a:solidFill>
                          <a:latin typeface="IBM Plex Sans" pitchFamily="34" charset="0"/>
                          <a:ea typeface="IBM Plex Sans" pitchFamily="34" charset="-122"/>
                          <a:cs typeface="IBM Plex Sans" pitchFamily="34" charset="-120"/>
                        </a:rPr>
                        <a:t>None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8E3510"/>
                          </a:solidFill>
                          <a:latin typeface="IBM Plex Sans" pitchFamily="34" charset="0"/>
                          <a:ea typeface="IBM Plex Sans" pitchFamily="34" charset="-122"/>
                          <a:cs typeface="IBM Plex Sans" pitchFamily="34" charset="-120"/>
                        </a:rPr>
                        <a:t>Not covered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r>
            </a:tbl>
          </a:graphicData>
        </a:graphic>
      </p:graphicFrame>
      <p:sp>
        <p:nvSpPr>
          <p:cNvPr id="9" name="Text 6"/>
          <p:cNvSpPr/>
          <p:nvPr/>
        </p:nvSpPr>
        <p:spPr>
          <a:xfrm>
            <a:off x="812767" y="4370450"/>
            <a:ext cx="1088344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Illustrative example. REQ-04 has no test cases: the matrix makes that coverage gap visible before release.</a:t>
            </a:r>
            <a:endParaRPr lang="en-US" sz="1200" dirty="0"/>
          </a:p>
        </p:txBody>
      </p:sp>
      <p:sp>
        <p:nvSpPr>
          <p:cNvPr id="10" name="Text 7"/>
          <p:cNvSpPr/>
          <p:nvPr/>
        </p:nvSpPr>
        <p:spPr>
          <a:xfrm>
            <a:off x="812767" y="623824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11" name="Text 8"/>
          <p:cNvSpPr/>
          <p:nvPr/>
        </p:nvSpPr>
        <p:spPr>
          <a:xfrm>
            <a:off x="10058419" y="6238242"/>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6"/>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PHASE 02 · TEST PLANNING</a:t>
            </a:r>
            <a:endParaRPr lang="en-US" sz="1200" dirty="0"/>
          </a:p>
        </p:txBody>
      </p:sp>
      <p:sp>
        <p:nvSpPr>
          <p:cNvPr id="3" name="Text 1"/>
          <p:cNvSpPr/>
          <p:nvPr/>
        </p:nvSpPr>
        <p:spPr>
          <a:xfrm>
            <a:off x="812767" y="1127717"/>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What a test plan must answer</a:t>
            </a:r>
            <a:endParaRPr lang="en-US" sz="3200" dirty="0"/>
          </a:p>
        </p:txBody>
      </p:sp>
      <p:sp>
        <p:nvSpPr>
          <p:cNvPr id="4" name="Shape 2"/>
          <p:cNvSpPr/>
          <p:nvPr/>
        </p:nvSpPr>
        <p:spPr>
          <a:xfrm>
            <a:off x="815942" y="1882679"/>
            <a:ext cx="2540023" cy="1575879"/>
          </a:xfrm>
          <a:prstGeom prst="roundRect">
            <a:avLst>
              <a:gd name="adj" fmla="val 6246"/>
            </a:avLst>
          </a:prstGeom>
          <a:solidFill>
            <a:srgbClr val="FBFAF7"/>
          </a:solidFill>
          <a:ln w="6350">
            <a:solidFill>
              <a:srgbClr val="DDD7CA"/>
            </a:solidFill>
            <a:prstDash val="solid"/>
          </a:ln>
        </p:spPr>
      </p:sp>
      <p:pic>
        <p:nvPicPr>
          <p:cNvPr id="5" name="Image 0" descr="Search">    </p:cNvPr>
          <p:cNvPicPr>
            <a:picLocks noChangeAspect="1"/>
          </p:cNvPicPr>
          <p:nvPr/>
        </p:nvPicPr>
        <p:blipFill>
          <a:blip r:embed="rId1"/>
          <a:srcRect l="0" r="0" t="0" b="0"/>
          <a:stretch/>
        </p:blipFill>
        <p:spPr>
          <a:xfrm>
            <a:off x="994944" y="2061682"/>
            <a:ext cx="228582" cy="228582"/>
          </a:xfrm>
          <a:prstGeom prst="rect">
            <a:avLst/>
          </a:prstGeom>
        </p:spPr>
      </p:pic>
      <p:sp>
        <p:nvSpPr>
          <p:cNvPr id="6" name="Text 3"/>
          <p:cNvSpPr/>
          <p:nvPr/>
        </p:nvSpPr>
        <p:spPr>
          <a:xfrm>
            <a:off x="994944" y="2353757"/>
            <a:ext cx="2247481"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Scope</a:t>
            </a:r>
            <a:endParaRPr lang="en-US" sz="1400" dirty="0"/>
          </a:p>
        </p:txBody>
      </p:sp>
      <p:sp>
        <p:nvSpPr>
          <p:cNvPr id="7" name="Text 4"/>
          <p:cNvSpPr/>
          <p:nvPr/>
        </p:nvSpPr>
        <p:spPr>
          <a:xfrm>
            <a:off x="994944" y="2639495"/>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What is in and out: features, platforms, integrations.</a:t>
            </a:r>
            <a:endParaRPr lang="en-US" sz="1200" dirty="0"/>
          </a:p>
        </p:txBody>
      </p:sp>
      <p:sp>
        <p:nvSpPr>
          <p:cNvPr id="8" name="Shape 5"/>
          <p:cNvSpPr/>
          <p:nvPr/>
        </p:nvSpPr>
        <p:spPr>
          <a:xfrm>
            <a:off x="3489301" y="1882679"/>
            <a:ext cx="2540023" cy="1575879"/>
          </a:xfrm>
          <a:prstGeom prst="roundRect">
            <a:avLst>
              <a:gd name="adj" fmla="val 6246"/>
            </a:avLst>
          </a:prstGeom>
          <a:solidFill>
            <a:srgbClr val="FBFAF7"/>
          </a:solidFill>
          <a:ln w="6350">
            <a:solidFill>
              <a:srgbClr val="DDD7CA"/>
            </a:solidFill>
            <a:prstDash val="solid"/>
          </a:ln>
        </p:spPr>
      </p:sp>
      <p:pic>
        <p:nvPicPr>
          <p:cNvPr id="9" name="Image 1" descr="Settings">    </p:cNvPr>
          <p:cNvPicPr>
            <a:picLocks noChangeAspect="1"/>
          </p:cNvPicPr>
          <p:nvPr/>
        </p:nvPicPr>
        <p:blipFill>
          <a:blip r:embed="rId2"/>
          <a:srcRect l="0" r="0" t="0" b="0"/>
          <a:stretch/>
        </p:blipFill>
        <p:spPr>
          <a:xfrm>
            <a:off x="3668303" y="2061682"/>
            <a:ext cx="228582" cy="228582"/>
          </a:xfrm>
          <a:prstGeom prst="rect">
            <a:avLst/>
          </a:prstGeom>
        </p:spPr>
      </p:pic>
      <p:sp>
        <p:nvSpPr>
          <p:cNvPr id="10" name="Text 6"/>
          <p:cNvSpPr/>
          <p:nvPr/>
        </p:nvSpPr>
        <p:spPr>
          <a:xfrm>
            <a:off x="3668303" y="2353757"/>
            <a:ext cx="2247481"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Approach</a:t>
            </a:r>
            <a:endParaRPr lang="en-US" sz="1400" dirty="0"/>
          </a:p>
        </p:txBody>
      </p:sp>
      <p:sp>
        <p:nvSpPr>
          <p:cNvPr id="11" name="Text 7"/>
          <p:cNvSpPr/>
          <p:nvPr/>
        </p:nvSpPr>
        <p:spPr>
          <a:xfrm>
            <a:off x="3668303" y="2639495"/>
            <a:ext cx="2247481" cy="66546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Test levels, types and techniques; manual vs automated.</a:t>
            </a:r>
            <a:endParaRPr lang="en-US" sz="1200" dirty="0"/>
          </a:p>
        </p:txBody>
      </p:sp>
      <p:sp>
        <p:nvSpPr>
          <p:cNvPr id="12" name="Shape 8"/>
          <p:cNvSpPr/>
          <p:nvPr/>
        </p:nvSpPr>
        <p:spPr>
          <a:xfrm>
            <a:off x="6162661" y="1882679"/>
            <a:ext cx="2540023" cy="1575879"/>
          </a:xfrm>
          <a:prstGeom prst="roundRect">
            <a:avLst>
              <a:gd name="adj" fmla="val 6246"/>
            </a:avLst>
          </a:prstGeom>
          <a:solidFill>
            <a:srgbClr val="FBFAF7"/>
          </a:solidFill>
          <a:ln w="6350">
            <a:solidFill>
              <a:srgbClr val="DDD7CA"/>
            </a:solidFill>
            <a:prstDash val="solid"/>
          </a:ln>
        </p:spPr>
      </p:sp>
      <p:pic>
        <p:nvPicPr>
          <p:cNvPr id="13" name="Image 2" descr="Users">    </p:cNvPr>
          <p:cNvPicPr>
            <a:picLocks noChangeAspect="1"/>
          </p:cNvPicPr>
          <p:nvPr/>
        </p:nvPicPr>
        <p:blipFill>
          <a:blip r:embed="rId3"/>
          <a:srcRect l="0" r="0" t="0" b="0"/>
          <a:stretch/>
        </p:blipFill>
        <p:spPr>
          <a:xfrm>
            <a:off x="6341663" y="2061682"/>
            <a:ext cx="228582" cy="228582"/>
          </a:xfrm>
          <a:prstGeom prst="rect">
            <a:avLst/>
          </a:prstGeom>
        </p:spPr>
      </p:pic>
      <p:sp>
        <p:nvSpPr>
          <p:cNvPr id="14" name="Text 9"/>
          <p:cNvSpPr/>
          <p:nvPr/>
        </p:nvSpPr>
        <p:spPr>
          <a:xfrm>
            <a:off x="6341663" y="2353757"/>
            <a:ext cx="2247481"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Resources and roles</a:t>
            </a:r>
            <a:endParaRPr lang="en-US" sz="1400" dirty="0"/>
          </a:p>
        </p:txBody>
      </p:sp>
      <p:sp>
        <p:nvSpPr>
          <p:cNvPr id="15" name="Text 10"/>
          <p:cNvSpPr/>
          <p:nvPr/>
        </p:nvSpPr>
        <p:spPr>
          <a:xfrm>
            <a:off x="6341663" y="2639495"/>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Who tests what; the skills and tools needed.</a:t>
            </a:r>
            <a:endParaRPr lang="en-US" sz="1200" dirty="0"/>
          </a:p>
        </p:txBody>
      </p:sp>
      <p:sp>
        <p:nvSpPr>
          <p:cNvPr id="16" name="Shape 11"/>
          <p:cNvSpPr/>
          <p:nvPr/>
        </p:nvSpPr>
        <p:spPr>
          <a:xfrm>
            <a:off x="8836020" y="1882679"/>
            <a:ext cx="2540023" cy="1575879"/>
          </a:xfrm>
          <a:prstGeom prst="roundRect">
            <a:avLst>
              <a:gd name="adj" fmla="val 6246"/>
            </a:avLst>
          </a:prstGeom>
          <a:solidFill>
            <a:srgbClr val="FBFAF7"/>
          </a:solidFill>
          <a:ln w="6350">
            <a:solidFill>
              <a:srgbClr val="DDD7CA"/>
            </a:solidFill>
            <a:prstDash val="solid"/>
          </a:ln>
        </p:spPr>
      </p:sp>
      <p:pic>
        <p:nvPicPr>
          <p:cNvPr id="17" name="Image 3" descr="Clock">    </p:cNvPr>
          <p:cNvPicPr>
            <a:picLocks noChangeAspect="1"/>
          </p:cNvPicPr>
          <p:nvPr/>
        </p:nvPicPr>
        <p:blipFill>
          <a:blip r:embed="rId4"/>
          <a:srcRect l="0" r="0" t="0" b="0"/>
          <a:stretch/>
        </p:blipFill>
        <p:spPr>
          <a:xfrm>
            <a:off x="9015022" y="2061682"/>
            <a:ext cx="228582" cy="228582"/>
          </a:xfrm>
          <a:prstGeom prst="rect">
            <a:avLst/>
          </a:prstGeom>
        </p:spPr>
      </p:pic>
      <p:sp>
        <p:nvSpPr>
          <p:cNvPr id="18" name="Text 12"/>
          <p:cNvSpPr/>
          <p:nvPr/>
        </p:nvSpPr>
        <p:spPr>
          <a:xfrm>
            <a:off x="9015022" y="2353757"/>
            <a:ext cx="2247481"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Schedule</a:t>
            </a:r>
            <a:endParaRPr lang="en-US" sz="1400" dirty="0"/>
          </a:p>
        </p:txBody>
      </p:sp>
      <p:sp>
        <p:nvSpPr>
          <p:cNvPr id="19" name="Text 13"/>
          <p:cNvSpPr/>
          <p:nvPr/>
        </p:nvSpPr>
        <p:spPr>
          <a:xfrm>
            <a:off x="9015022" y="2639495"/>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Milestones and effort estimates tied to the release plan.</a:t>
            </a:r>
            <a:endParaRPr lang="en-US" sz="1200" dirty="0"/>
          </a:p>
        </p:txBody>
      </p:sp>
      <p:sp>
        <p:nvSpPr>
          <p:cNvPr id="20" name="Shape 14"/>
          <p:cNvSpPr/>
          <p:nvPr/>
        </p:nvSpPr>
        <p:spPr>
          <a:xfrm>
            <a:off x="815942" y="3591895"/>
            <a:ext cx="2540023" cy="1362524"/>
          </a:xfrm>
          <a:prstGeom prst="roundRect">
            <a:avLst>
              <a:gd name="adj" fmla="val 7224"/>
            </a:avLst>
          </a:prstGeom>
          <a:solidFill>
            <a:srgbClr val="FBFAF7"/>
          </a:solidFill>
          <a:ln w="6350">
            <a:solidFill>
              <a:srgbClr val="DDD7CA"/>
            </a:solidFill>
            <a:prstDash val="solid"/>
          </a:ln>
        </p:spPr>
      </p:sp>
      <p:pic>
        <p:nvPicPr>
          <p:cNvPr id="21" name="Image 4" descr="Database">    </p:cNvPr>
          <p:cNvPicPr>
            <a:picLocks noChangeAspect="1"/>
          </p:cNvPicPr>
          <p:nvPr/>
        </p:nvPicPr>
        <p:blipFill>
          <a:blip r:embed="rId5"/>
          <a:srcRect l="0" r="0" t="0" b="0"/>
          <a:stretch/>
        </p:blipFill>
        <p:spPr>
          <a:xfrm>
            <a:off x="994944" y="3770899"/>
            <a:ext cx="228582" cy="228582"/>
          </a:xfrm>
          <a:prstGeom prst="rect">
            <a:avLst/>
          </a:prstGeom>
        </p:spPr>
      </p:pic>
      <p:sp>
        <p:nvSpPr>
          <p:cNvPr id="22" name="Text 15"/>
          <p:cNvSpPr/>
          <p:nvPr/>
        </p:nvSpPr>
        <p:spPr>
          <a:xfrm>
            <a:off x="994944" y="4062974"/>
            <a:ext cx="2247481"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Environment and data</a:t>
            </a:r>
            <a:endParaRPr lang="en-US" sz="1400" dirty="0"/>
          </a:p>
        </p:txBody>
      </p:sp>
      <p:sp>
        <p:nvSpPr>
          <p:cNvPr id="23" name="Text 16"/>
          <p:cNvSpPr/>
          <p:nvPr/>
        </p:nvSpPr>
        <p:spPr>
          <a:xfrm>
            <a:off x="994944" y="4348711"/>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Hardware, software, accounts and test data required.</a:t>
            </a:r>
            <a:endParaRPr lang="en-US" sz="1200" dirty="0"/>
          </a:p>
        </p:txBody>
      </p:sp>
      <p:sp>
        <p:nvSpPr>
          <p:cNvPr id="24" name="Shape 17"/>
          <p:cNvSpPr/>
          <p:nvPr/>
        </p:nvSpPr>
        <p:spPr>
          <a:xfrm>
            <a:off x="3489301" y="3591895"/>
            <a:ext cx="2540023" cy="1362524"/>
          </a:xfrm>
          <a:prstGeom prst="roundRect">
            <a:avLst>
              <a:gd name="adj" fmla="val 7224"/>
            </a:avLst>
          </a:prstGeom>
          <a:solidFill>
            <a:srgbClr val="FBFAF7"/>
          </a:solidFill>
          <a:ln w="6350">
            <a:solidFill>
              <a:srgbClr val="DDD7CA"/>
            </a:solidFill>
            <a:prstDash val="solid"/>
          </a:ln>
        </p:spPr>
      </p:sp>
      <p:pic>
        <p:nvPicPr>
          <p:cNvPr id="25" name="Image 5" descr="CheckCircle">    </p:cNvPr>
          <p:cNvPicPr>
            <a:picLocks noChangeAspect="1"/>
          </p:cNvPicPr>
          <p:nvPr/>
        </p:nvPicPr>
        <p:blipFill>
          <a:blip r:embed="rId6"/>
          <a:srcRect l="0" r="0" t="0" b="0"/>
          <a:stretch/>
        </p:blipFill>
        <p:spPr>
          <a:xfrm>
            <a:off x="3668303" y="3770899"/>
            <a:ext cx="228582" cy="228582"/>
          </a:xfrm>
          <a:prstGeom prst="rect">
            <a:avLst/>
          </a:prstGeom>
        </p:spPr>
      </p:pic>
      <p:sp>
        <p:nvSpPr>
          <p:cNvPr id="26" name="Text 18"/>
          <p:cNvSpPr/>
          <p:nvPr/>
        </p:nvSpPr>
        <p:spPr>
          <a:xfrm>
            <a:off x="3668303" y="4062974"/>
            <a:ext cx="2247481"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Entry and exit criteria</a:t>
            </a:r>
            <a:endParaRPr lang="en-US" sz="1400" dirty="0"/>
          </a:p>
        </p:txBody>
      </p:sp>
      <p:sp>
        <p:nvSpPr>
          <p:cNvPr id="27" name="Text 19"/>
          <p:cNvSpPr/>
          <p:nvPr/>
        </p:nvSpPr>
        <p:spPr>
          <a:xfrm>
            <a:off x="3668303" y="4348711"/>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When testing can start, and when it is done.</a:t>
            </a:r>
            <a:endParaRPr lang="en-US" sz="1200" dirty="0"/>
          </a:p>
        </p:txBody>
      </p:sp>
      <p:sp>
        <p:nvSpPr>
          <p:cNvPr id="28" name="Shape 20"/>
          <p:cNvSpPr/>
          <p:nvPr/>
        </p:nvSpPr>
        <p:spPr>
          <a:xfrm>
            <a:off x="6162661" y="3591895"/>
            <a:ext cx="2540023" cy="1362524"/>
          </a:xfrm>
          <a:prstGeom prst="roundRect">
            <a:avLst>
              <a:gd name="adj" fmla="val 7224"/>
            </a:avLst>
          </a:prstGeom>
          <a:solidFill>
            <a:srgbClr val="FBFAF7"/>
          </a:solidFill>
          <a:ln w="6350">
            <a:solidFill>
              <a:srgbClr val="DDD7CA"/>
            </a:solidFill>
            <a:prstDash val="solid"/>
          </a:ln>
        </p:spPr>
      </p:sp>
      <p:pic>
        <p:nvPicPr>
          <p:cNvPr id="29" name="Image 6" descr="Warning">    </p:cNvPr>
          <p:cNvPicPr>
            <a:picLocks noChangeAspect="1"/>
          </p:cNvPicPr>
          <p:nvPr/>
        </p:nvPicPr>
        <p:blipFill>
          <a:blip r:embed="rId7"/>
          <a:srcRect l="0" r="0" t="0" b="0"/>
          <a:stretch/>
        </p:blipFill>
        <p:spPr>
          <a:xfrm>
            <a:off x="6341663" y="3770899"/>
            <a:ext cx="228582" cy="228582"/>
          </a:xfrm>
          <a:prstGeom prst="rect">
            <a:avLst/>
          </a:prstGeom>
        </p:spPr>
      </p:pic>
      <p:sp>
        <p:nvSpPr>
          <p:cNvPr id="30" name="Text 21"/>
          <p:cNvSpPr/>
          <p:nvPr/>
        </p:nvSpPr>
        <p:spPr>
          <a:xfrm>
            <a:off x="6341663" y="4062974"/>
            <a:ext cx="2247481"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Risks and mitigation</a:t>
            </a:r>
            <a:endParaRPr lang="en-US" sz="1400" dirty="0"/>
          </a:p>
        </p:txBody>
      </p:sp>
      <p:sp>
        <p:nvSpPr>
          <p:cNvPr id="31" name="Text 22"/>
          <p:cNvSpPr/>
          <p:nvPr/>
        </p:nvSpPr>
        <p:spPr>
          <a:xfrm>
            <a:off x="6341663" y="4348711"/>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What could go wrong, and the contingency.</a:t>
            </a:r>
            <a:endParaRPr lang="en-US" sz="1200" dirty="0"/>
          </a:p>
        </p:txBody>
      </p:sp>
      <p:sp>
        <p:nvSpPr>
          <p:cNvPr id="32" name="Shape 23"/>
          <p:cNvSpPr/>
          <p:nvPr/>
        </p:nvSpPr>
        <p:spPr>
          <a:xfrm>
            <a:off x="8836020" y="3591895"/>
            <a:ext cx="2540023" cy="1362524"/>
          </a:xfrm>
          <a:prstGeom prst="roundRect">
            <a:avLst>
              <a:gd name="adj" fmla="val 7224"/>
            </a:avLst>
          </a:prstGeom>
          <a:solidFill>
            <a:srgbClr val="FBFAF7"/>
          </a:solidFill>
          <a:ln w="6350">
            <a:solidFill>
              <a:srgbClr val="DDD7CA"/>
            </a:solidFill>
            <a:prstDash val="solid"/>
          </a:ln>
        </p:spPr>
      </p:sp>
      <p:pic>
        <p:nvPicPr>
          <p:cNvPr id="33" name="Image 7" descr="Book">    </p:cNvPr>
          <p:cNvPicPr>
            <a:picLocks noChangeAspect="1"/>
          </p:cNvPicPr>
          <p:nvPr/>
        </p:nvPicPr>
        <p:blipFill>
          <a:blip r:embed="rId8"/>
          <a:srcRect l="0" r="0" t="0" b="0"/>
          <a:stretch/>
        </p:blipFill>
        <p:spPr>
          <a:xfrm>
            <a:off x="9015022" y="3770899"/>
            <a:ext cx="228582" cy="228582"/>
          </a:xfrm>
          <a:prstGeom prst="rect">
            <a:avLst/>
          </a:prstGeom>
        </p:spPr>
      </p:pic>
      <p:sp>
        <p:nvSpPr>
          <p:cNvPr id="34" name="Text 24"/>
          <p:cNvSpPr/>
          <p:nvPr/>
        </p:nvSpPr>
        <p:spPr>
          <a:xfrm>
            <a:off x="9015022" y="4062974"/>
            <a:ext cx="2247481"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Deliverables</a:t>
            </a:r>
            <a:endParaRPr lang="en-US" sz="1400" dirty="0"/>
          </a:p>
        </p:txBody>
      </p:sp>
      <p:sp>
        <p:nvSpPr>
          <p:cNvPr id="35" name="Text 25"/>
          <p:cNvSpPr/>
          <p:nvPr/>
        </p:nvSpPr>
        <p:spPr>
          <a:xfrm>
            <a:off x="9015022" y="4348711"/>
            <a:ext cx="224748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Test cases, reports, metrics and sign-off.</a:t>
            </a:r>
            <a:endParaRPr lang="en-US" sz="1200" dirty="0"/>
          </a:p>
        </p:txBody>
      </p:sp>
      <p:sp>
        <p:nvSpPr>
          <p:cNvPr id="36" name="Text 26"/>
          <p:cNvSpPr/>
          <p:nvPr/>
        </p:nvSpPr>
        <p:spPr>
          <a:xfrm>
            <a:off x="812767" y="6238239"/>
            <a:ext cx="784860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Template reference: IEEE 829 / ISO/IEC/IEEE 29119-3</a:t>
            </a:r>
            <a:endParaRPr lang="en-US" sz="1200" dirty="0"/>
          </a:p>
        </p:txBody>
      </p:sp>
      <p:sp>
        <p:nvSpPr>
          <p:cNvPr id="37" name="Text 27"/>
          <p:cNvSpPr/>
          <p:nvPr/>
        </p:nvSpPr>
        <p:spPr>
          <a:xfrm>
            <a:off x="10058419" y="6238239"/>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9"/>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PHASE 02 · TEST PLANNING</a:t>
            </a:r>
            <a:endParaRPr lang="en-US" sz="1200" dirty="0"/>
          </a:p>
        </p:txBody>
      </p:sp>
      <p:sp>
        <p:nvSpPr>
          <p:cNvPr id="3" name="Text 1"/>
          <p:cNvSpPr/>
          <p:nvPr/>
        </p:nvSpPr>
        <p:spPr>
          <a:xfrm>
            <a:off x="812767" y="1127720"/>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Choosing test levels and types</a:t>
            </a:r>
            <a:endParaRPr lang="en-US" sz="3200" dirty="0"/>
          </a:p>
        </p:txBody>
      </p:sp>
      <p:sp>
        <p:nvSpPr>
          <p:cNvPr id="4" name="Shape 2"/>
          <p:cNvSpPr/>
          <p:nvPr/>
        </p:nvSpPr>
        <p:spPr>
          <a:xfrm>
            <a:off x="812767" y="1879507"/>
            <a:ext cx="10566452" cy="1670630"/>
          </a:xfrm>
          <a:prstGeom prst="rect">
            <a:avLst/>
          </a:prstGeom>
          <a:solidFill>
            <a:srgbClr val="FBFAF7"/>
          </a:solidFill>
          <a:ln/>
        </p:spPr>
      </p:sp>
      <p:sp>
        <p:nvSpPr>
          <p:cNvPr id="5" name="Shape 3"/>
          <p:cNvSpPr/>
          <p:nvPr/>
        </p:nvSpPr>
        <p:spPr>
          <a:xfrm>
            <a:off x="11376044" y="1879507"/>
            <a:ext cx="0" cy="1670630"/>
          </a:xfrm>
          <a:prstGeom prst="line">
            <a:avLst/>
          </a:prstGeom>
          <a:noFill/>
          <a:ln w="6350">
            <a:solidFill>
              <a:srgbClr val="DDD7CA"/>
            </a:solidFill>
            <a:prstDash val="solid"/>
          </a:ln>
        </p:spPr>
      </p:sp>
      <p:sp>
        <p:nvSpPr>
          <p:cNvPr id="6" name="Shape 4"/>
          <p:cNvSpPr/>
          <p:nvPr/>
        </p:nvSpPr>
        <p:spPr>
          <a:xfrm>
            <a:off x="812767" y="3546962"/>
            <a:ext cx="10566452" cy="0"/>
          </a:xfrm>
          <a:prstGeom prst="line">
            <a:avLst/>
          </a:prstGeom>
          <a:noFill/>
          <a:ln w="6350">
            <a:solidFill>
              <a:srgbClr val="DDD7CA"/>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791" y="1890531"/>
          <a:ext cx="10551018" cy="1655196"/>
        </p:xfrm>
        <a:graphic>
          <a:graphicData uri="http://schemas.openxmlformats.org/drawingml/2006/table">
            <a:tbl>
              <a:tblPr/>
              <a:tblGrid>
                <a:gridCol w="1793673"/>
                <a:gridCol w="3059795"/>
                <a:gridCol w="2110204"/>
                <a:gridCol w="3587346"/>
              </a:tblGrid>
              <a:tr h="331039">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Level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What is tested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Usually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Example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31039">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Unit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 single function or class in isolation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Developers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calculateTax() returns the right amount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1039">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Integration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Interfaces between modules or services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Developers and testers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Order service calls the payment API correctly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r>
              <a:tr h="331039">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System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The complete application, end to end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Test team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Place an order from login to confirmation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1039">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Acceptance (UAT)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Fitness for business 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Users, product 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Finance team signs off the month-end report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r>
            </a:tbl>
          </a:graphicData>
        </a:graphic>
      </p:graphicFrame>
      <p:sp>
        <p:nvSpPr>
          <p:cNvPr id="8" name="Text 5"/>
          <p:cNvSpPr/>
          <p:nvPr/>
        </p:nvSpPr>
        <p:spPr>
          <a:xfrm>
            <a:off x="812767" y="3854921"/>
            <a:ext cx="10883445"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Test types that apply across levels</a:t>
            </a:r>
            <a:endParaRPr lang="en-US" sz="1200" dirty="0"/>
          </a:p>
        </p:txBody>
      </p:sp>
      <p:sp>
        <p:nvSpPr>
          <p:cNvPr id="9" name="Shape 6"/>
          <p:cNvSpPr/>
          <p:nvPr/>
        </p:nvSpPr>
        <p:spPr>
          <a:xfrm>
            <a:off x="812767" y="4169873"/>
            <a:ext cx="971482" cy="314916"/>
          </a:xfrm>
          <a:prstGeom prst="roundRect">
            <a:avLst>
              <a:gd name="adj" fmla="val 50000"/>
            </a:avLst>
          </a:prstGeom>
          <a:solidFill>
            <a:srgbClr val="DCE6F3"/>
          </a:solidFill>
          <a:ln/>
        </p:spPr>
      </p:sp>
      <p:sp>
        <p:nvSpPr>
          <p:cNvPr id="10" name="Text 7"/>
          <p:cNvSpPr/>
          <p:nvPr/>
        </p:nvSpPr>
        <p:spPr>
          <a:xfrm>
            <a:off x="939767" y="4220673"/>
            <a:ext cx="768282"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Functional</a:t>
            </a:r>
            <a:endParaRPr lang="en-US" sz="1200" dirty="0"/>
          </a:p>
        </p:txBody>
      </p:sp>
      <p:sp>
        <p:nvSpPr>
          <p:cNvPr id="11" name="Shape 8"/>
          <p:cNvSpPr/>
          <p:nvPr/>
        </p:nvSpPr>
        <p:spPr>
          <a:xfrm>
            <a:off x="1860420" y="4169873"/>
            <a:ext cx="1460376" cy="314916"/>
          </a:xfrm>
          <a:prstGeom prst="roundRect">
            <a:avLst>
              <a:gd name="adj" fmla="val 50000"/>
            </a:avLst>
          </a:prstGeom>
          <a:solidFill>
            <a:srgbClr val="DCE6F3"/>
          </a:solidFill>
          <a:ln/>
        </p:spPr>
      </p:sp>
      <p:sp>
        <p:nvSpPr>
          <p:cNvPr id="12" name="Text 9"/>
          <p:cNvSpPr/>
          <p:nvPr/>
        </p:nvSpPr>
        <p:spPr>
          <a:xfrm>
            <a:off x="1987420" y="4220673"/>
            <a:ext cx="1257176"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Smoke and sanity</a:t>
            </a:r>
            <a:endParaRPr lang="en-US" sz="1200" dirty="0"/>
          </a:p>
        </p:txBody>
      </p:sp>
      <p:sp>
        <p:nvSpPr>
          <p:cNvPr id="13" name="Shape 10"/>
          <p:cNvSpPr/>
          <p:nvPr/>
        </p:nvSpPr>
        <p:spPr>
          <a:xfrm>
            <a:off x="3396967" y="4169873"/>
            <a:ext cx="1009757" cy="314916"/>
          </a:xfrm>
          <a:prstGeom prst="roundRect">
            <a:avLst>
              <a:gd name="adj" fmla="val 50000"/>
            </a:avLst>
          </a:prstGeom>
          <a:solidFill>
            <a:srgbClr val="DCE6F3"/>
          </a:solidFill>
          <a:ln/>
        </p:spPr>
      </p:sp>
      <p:sp>
        <p:nvSpPr>
          <p:cNvPr id="14" name="Text 11"/>
          <p:cNvSpPr/>
          <p:nvPr/>
        </p:nvSpPr>
        <p:spPr>
          <a:xfrm>
            <a:off x="3523967" y="4220673"/>
            <a:ext cx="806557"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Regression</a:t>
            </a:r>
            <a:endParaRPr lang="en-US" sz="1200" dirty="0"/>
          </a:p>
        </p:txBody>
      </p:sp>
      <p:sp>
        <p:nvSpPr>
          <p:cNvPr id="15" name="Shape 12"/>
          <p:cNvSpPr/>
          <p:nvPr/>
        </p:nvSpPr>
        <p:spPr>
          <a:xfrm>
            <a:off x="4482896" y="4169873"/>
            <a:ext cx="1133953" cy="314916"/>
          </a:xfrm>
          <a:prstGeom prst="roundRect">
            <a:avLst>
              <a:gd name="adj" fmla="val 50000"/>
            </a:avLst>
          </a:prstGeom>
          <a:solidFill>
            <a:srgbClr val="F6E1D5"/>
          </a:solidFill>
          <a:ln/>
        </p:spPr>
      </p:sp>
      <p:sp>
        <p:nvSpPr>
          <p:cNvPr id="16" name="Text 13"/>
          <p:cNvSpPr/>
          <p:nvPr/>
        </p:nvSpPr>
        <p:spPr>
          <a:xfrm>
            <a:off x="4609896" y="4220673"/>
            <a:ext cx="930753"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Performance</a:t>
            </a:r>
            <a:endParaRPr lang="en-US" sz="1200" dirty="0"/>
          </a:p>
        </p:txBody>
      </p:sp>
      <p:sp>
        <p:nvSpPr>
          <p:cNvPr id="17" name="Shape 14"/>
          <p:cNvSpPr/>
          <p:nvPr/>
        </p:nvSpPr>
        <p:spPr>
          <a:xfrm>
            <a:off x="5693020" y="4169873"/>
            <a:ext cx="813008" cy="314916"/>
          </a:xfrm>
          <a:prstGeom prst="roundRect">
            <a:avLst>
              <a:gd name="adj" fmla="val 50000"/>
            </a:avLst>
          </a:prstGeom>
          <a:solidFill>
            <a:srgbClr val="F6E1D5"/>
          </a:solidFill>
          <a:ln/>
        </p:spPr>
      </p:sp>
      <p:sp>
        <p:nvSpPr>
          <p:cNvPr id="18" name="Text 15"/>
          <p:cNvSpPr/>
          <p:nvPr/>
        </p:nvSpPr>
        <p:spPr>
          <a:xfrm>
            <a:off x="5820020" y="4220673"/>
            <a:ext cx="609808"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Security</a:t>
            </a:r>
            <a:endParaRPr lang="en-US" sz="1200" dirty="0"/>
          </a:p>
        </p:txBody>
      </p:sp>
      <p:sp>
        <p:nvSpPr>
          <p:cNvPr id="19" name="Shape 16"/>
          <p:cNvSpPr/>
          <p:nvPr/>
        </p:nvSpPr>
        <p:spPr>
          <a:xfrm>
            <a:off x="6582199" y="4169873"/>
            <a:ext cx="848492" cy="314916"/>
          </a:xfrm>
          <a:prstGeom prst="roundRect">
            <a:avLst>
              <a:gd name="adj" fmla="val 50000"/>
            </a:avLst>
          </a:prstGeom>
          <a:solidFill>
            <a:srgbClr val="F6E1D5"/>
          </a:solidFill>
          <a:ln/>
        </p:spPr>
      </p:sp>
      <p:sp>
        <p:nvSpPr>
          <p:cNvPr id="20" name="Text 17"/>
          <p:cNvSpPr/>
          <p:nvPr/>
        </p:nvSpPr>
        <p:spPr>
          <a:xfrm>
            <a:off x="6709199" y="4220673"/>
            <a:ext cx="645292"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Usability</a:t>
            </a:r>
            <a:endParaRPr lang="en-US" sz="1200" dirty="0"/>
          </a:p>
        </p:txBody>
      </p:sp>
      <p:sp>
        <p:nvSpPr>
          <p:cNvPr id="21" name="Shape 18"/>
          <p:cNvSpPr/>
          <p:nvPr/>
        </p:nvSpPr>
        <p:spPr>
          <a:xfrm>
            <a:off x="7506863" y="4169873"/>
            <a:ext cx="1163960" cy="314916"/>
          </a:xfrm>
          <a:prstGeom prst="roundRect">
            <a:avLst>
              <a:gd name="adj" fmla="val 50000"/>
            </a:avLst>
          </a:prstGeom>
          <a:solidFill>
            <a:srgbClr val="F6E1D5"/>
          </a:solidFill>
          <a:ln/>
        </p:spPr>
      </p:sp>
      <p:sp>
        <p:nvSpPr>
          <p:cNvPr id="22" name="Text 19"/>
          <p:cNvSpPr/>
          <p:nvPr/>
        </p:nvSpPr>
        <p:spPr>
          <a:xfrm>
            <a:off x="7633863" y="4220673"/>
            <a:ext cx="960760" cy="2387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Compatibility</a:t>
            </a:r>
            <a:endParaRPr lang="en-US" sz="1200" dirty="0"/>
          </a:p>
        </p:txBody>
      </p:sp>
      <p:sp>
        <p:nvSpPr>
          <p:cNvPr id="23" name="Text 20"/>
          <p:cNvSpPr/>
          <p:nvPr/>
        </p:nvSpPr>
        <p:spPr>
          <a:xfrm>
            <a:off x="812767" y="4586387"/>
            <a:ext cx="1088344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Blue: functional (what the system does). Orange: non-functional (how well it does it).</a:t>
            </a:r>
            <a:endParaRPr lang="en-US" sz="1200" dirty="0"/>
          </a:p>
        </p:txBody>
      </p:sp>
      <p:sp>
        <p:nvSpPr>
          <p:cNvPr id="24" name="Text 21"/>
          <p:cNvSpPr/>
          <p:nvPr/>
        </p:nvSpPr>
        <p:spPr>
          <a:xfrm>
            <a:off x="812767" y="623824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25" name="Text 22"/>
          <p:cNvSpPr/>
          <p:nvPr/>
        </p:nvSpPr>
        <p:spPr>
          <a:xfrm>
            <a:off x="10058419" y="6238242"/>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3"/>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PHASE 03 · TEST DEVELOPMENT</a:t>
            </a:r>
            <a:endParaRPr lang="en-US" sz="1200" dirty="0"/>
          </a:p>
        </p:txBody>
      </p:sp>
      <p:sp>
        <p:nvSpPr>
          <p:cNvPr id="3" name="Text 1"/>
          <p:cNvSpPr/>
          <p:nvPr/>
        </p:nvSpPr>
        <p:spPr>
          <a:xfrm>
            <a:off x="812767" y="1127714"/>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Use techniques, not guesswork</a:t>
            </a:r>
            <a:endParaRPr lang="en-US" sz="3200" dirty="0"/>
          </a:p>
        </p:txBody>
      </p:sp>
      <p:sp>
        <p:nvSpPr>
          <p:cNvPr id="4" name="Shape 2"/>
          <p:cNvSpPr/>
          <p:nvPr/>
        </p:nvSpPr>
        <p:spPr>
          <a:xfrm>
            <a:off x="815942" y="1882676"/>
            <a:ext cx="3380317" cy="2935968"/>
          </a:xfrm>
          <a:prstGeom prst="roundRect">
            <a:avLst>
              <a:gd name="adj" fmla="val 3352"/>
            </a:avLst>
          </a:prstGeom>
          <a:solidFill>
            <a:srgbClr val="FBFAF7"/>
          </a:solidFill>
          <a:ln w="6350">
            <a:solidFill>
              <a:srgbClr val="DDD7CA"/>
            </a:solidFill>
            <a:prstDash val="solid"/>
          </a:ln>
        </p:spPr>
      </p:sp>
      <p:sp>
        <p:nvSpPr>
          <p:cNvPr id="5" name="Text 3"/>
          <p:cNvSpPr/>
          <p:nvPr/>
        </p:nvSpPr>
        <p:spPr>
          <a:xfrm>
            <a:off x="1045759" y="2112497"/>
            <a:ext cx="3008303"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SPECIFICATION-BASED</a:t>
            </a:r>
            <a:endParaRPr lang="en-US" sz="1200" dirty="0"/>
          </a:p>
        </p:txBody>
      </p:sp>
      <p:sp>
        <p:nvSpPr>
          <p:cNvPr id="6" name="Text 4"/>
          <p:cNvSpPr/>
          <p:nvPr/>
        </p:nvSpPr>
        <p:spPr>
          <a:xfrm>
            <a:off x="1045759" y="2402024"/>
            <a:ext cx="3008303"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Black-box</a:t>
            </a:r>
            <a:endParaRPr lang="en-US" sz="1800" dirty="0"/>
          </a:p>
        </p:txBody>
      </p:sp>
      <p:sp>
        <p:nvSpPr>
          <p:cNvPr id="7" name="Text 5"/>
          <p:cNvSpPr/>
          <p:nvPr/>
        </p:nvSpPr>
        <p:spPr>
          <a:xfrm>
            <a:off x="1045759" y="2752527"/>
            <a:ext cx="3008303"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Derived from requirements; no knowledge of the code.</a:t>
            </a:r>
            <a:endParaRPr lang="en-US" sz="1200" dirty="0"/>
          </a:p>
        </p:txBody>
      </p:sp>
      <p:sp>
        <p:nvSpPr>
          <p:cNvPr id="8" name="Text 6"/>
          <p:cNvSpPr/>
          <p:nvPr/>
        </p:nvSpPr>
        <p:spPr>
          <a:xfrm>
            <a:off x="1045759" y="3255404"/>
            <a:ext cx="3008303" cy="1358824"/>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Equivalence partitioning</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Boundary value analysis</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Decision tables</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State transition</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Use case testing</a:t>
            </a:r>
            <a:endParaRPr lang="en-US" sz="1400" dirty="0"/>
          </a:p>
        </p:txBody>
      </p:sp>
      <p:sp>
        <p:nvSpPr>
          <p:cNvPr id="9" name="Shape 7"/>
          <p:cNvSpPr/>
          <p:nvPr/>
        </p:nvSpPr>
        <p:spPr>
          <a:xfrm>
            <a:off x="4405800" y="1882676"/>
            <a:ext cx="3380351" cy="2935968"/>
          </a:xfrm>
          <a:prstGeom prst="roundRect">
            <a:avLst>
              <a:gd name="adj" fmla="val 3352"/>
            </a:avLst>
          </a:prstGeom>
          <a:solidFill>
            <a:srgbClr val="FBFAF7"/>
          </a:solidFill>
          <a:ln w="6350">
            <a:solidFill>
              <a:srgbClr val="DDD7CA"/>
            </a:solidFill>
            <a:prstDash val="solid"/>
          </a:ln>
        </p:spPr>
      </p:sp>
      <p:sp>
        <p:nvSpPr>
          <p:cNvPr id="10" name="Text 8"/>
          <p:cNvSpPr/>
          <p:nvPr/>
        </p:nvSpPr>
        <p:spPr>
          <a:xfrm>
            <a:off x="4635617" y="2112497"/>
            <a:ext cx="3008339"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A85"/>
                </a:solidFill>
                <a:latin typeface="JetBrains Mono" pitchFamily="34" charset="0"/>
                <a:ea typeface="JetBrains Mono" pitchFamily="34" charset="-122"/>
                <a:cs typeface="JetBrains Mono" pitchFamily="34" charset="-120"/>
              </a:rPr>
              <a:t>STRUCTURE-BASED</a:t>
            </a:r>
            <a:endParaRPr lang="en-US" sz="1200" dirty="0"/>
          </a:p>
        </p:txBody>
      </p:sp>
      <p:sp>
        <p:nvSpPr>
          <p:cNvPr id="11" name="Text 9"/>
          <p:cNvSpPr/>
          <p:nvPr/>
        </p:nvSpPr>
        <p:spPr>
          <a:xfrm>
            <a:off x="4635617" y="2402024"/>
            <a:ext cx="3008339"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White-box</a:t>
            </a:r>
            <a:endParaRPr lang="en-US" sz="1800" dirty="0"/>
          </a:p>
        </p:txBody>
      </p:sp>
      <p:sp>
        <p:nvSpPr>
          <p:cNvPr id="12" name="Text 10"/>
          <p:cNvSpPr/>
          <p:nvPr/>
        </p:nvSpPr>
        <p:spPr>
          <a:xfrm>
            <a:off x="4635617" y="2752527"/>
            <a:ext cx="3008339"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Derived from the code's internal logic and paths.</a:t>
            </a:r>
            <a:endParaRPr lang="en-US" sz="1200" dirty="0"/>
          </a:p>
        </p:txBody>
      </p:sp>
      <p:sp>
        <p:nvSpPr>
          <p:cNvPr id="13" name="Text 11"/>
          <p:cNvSpPr/>
          <p:nvPr/>
        </p:nvSpPr>
        <p:spPr>
          <a:xfrm>
            <a:off x="4635617" y="3255404"/>
            <a:ext cx="3008339" cy="1092139"/>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Statement coverage</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Branch coverage</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Condition coverage</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Path coverage</a:t>
            </a:r>
            <a:endParaRPr lang="en-US" sz="1400" dirty="0"/>
          </a:p>
        </p:txBody>
      </p:sp>
      <p:sp>
        <p:nvSpPr>
          <p:cNvPr id="14" name="Shape 12"/>
          <p:cNvSpPr/>
          <p:nvPr/>
        </p:nvSpPr>
        <p:spPr>
          <a:xfrm>
            <a:off x="7995693" y="1882676"/>
            <a:ext cx="3380351" cy="2935968"/>
          </a:xfrm>
          <a:prstGeom prst="roundRect">
            <a:avLst>
              <a:gd name="adj" fmla="val 3352"/>
            </a:avLst>
          </a:prstGeom>
          <a:solidFill>
            <a:srgbClr val="FBFAF7"/>
          </a:solidFill>
          <a:ln w="6350">
            <a:solidFill>
              <a:srgbClr val="DDD7CA"/>
            </a:solidFill>
            <a:prstDash val="solid"/>
          </a:ln>
        </p:spPr>
      </p:sp>
      <p:sp>
        <p:nvSpPr>
          <p:cNvPr id="15" name="Text 13"/>
          <p:cNvSpPr/>
          <p:nvPr/>
        </p:nvSpPr>
        <p:spPr>
          <a:xfrm>
            <a:off x="8225510" y="2112497"/>
            <a:ext cx="3008339"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EXPERIENCE-BASED</a:t>
            </a:r>
            <a:endParaRPr lang="en-US" sz="1200" dirty="0"/>
          </a:p>
        </p:txBody>
      </p:sp>
      <p:sp>
        <p:nvSpPr>
          <p:cNvPr id="16" name="Text 14"/>
          <p:cNvSpPr/>
          <p:nvPr/>
        </p:nvSpPr>
        <p:spPr>
          <a:xfrm>
            <a:off x="8225510" y="2402024"/>
            <a:ext cx="3008339"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Tester's judgement</a:t>
            </a:r>
            <a:endParaRPr lang="en-US" sz="1800" dirty="0"/>
          </a:p>
        </p:txBody>
      </p:sp>
      <p:sp>
        <p:nvSpPr>
          <p:cNvPr id="17" name="Text 15"/>
          <p:cNvSpPr/>
          <p:nvPr/>
        </p:nvSpPr>
        <p:spPr>
          <a:xfrm>
            <a:off x="8225510" y="2752527"/>
            <a:ext cx="3008339"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Uses knowledge of past defects and the domain.</a:t>
            </a:r>
            <a:endParaRPr lang="en-US" sz="1200" dirty="0"/>
          </a:p>
        </p:txBody>
      </p:sp>
      <p:sp>
        <p:nvSpPr>
          <p:cNvPr id="18" name="Text 16"/>
          <p:cNvSpPr/>
          <p:nvPr/>
        </p:nvSpPr>
        <p:spPr>
          <a:xfrm>
            <a:off x="8225510" y="3255404"/>
            <a:ext cx="3008339" cy="825455"/>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Error guessing</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Exploratory testing</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Checklist-based testing</a:t>
            </a:r>
            <a:endParaRPr lang="en-US" sz="1400" dirty="0"/>
          </a:p>
        </p:txBody>
      </p:sp>
      <p:sp>
        <p:nvSpPr>
          <p:cNvPr id="19" name="Text 17"/>
          <p:cNvSpPr/>
          <p:nvPr/>
        </p:nvSpPr>
        <p:spPr>
          <a:xfrm>
            <a:off x="812767" y="6238236"/>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20" name="Text 18"/>
          <p:cNvSpPr/>
          <p:nvPr/>
        </p:nvSpPr>
        <p:spPr>
          <a:xfrm>
            <a:off x="10058419" y="6238236"/>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9"/>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PHASE 03 · TEST DEVELOPMENT</a:t>
            </a:r>
            <a:endParaRPr lang="en-US" sz="1200" dirty="0"/>
          </a:p>
        </p:txBody>
      </p:sp>
      <p:sp>
        <p:nvSpPr>
          <p:cNvPr id="3" name="Text 1"/>
          <p:cNvSpPr/>
          <p:nvPr/>
        </p:nvSpPr>
        <p:spPr>
          <a:xfrm>
            <a:off x="812767" y="1127720"/>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Example: an age field that accepts 18 to 60</a:t>
            </a:r>
            <a:endParaRPr lang="en-US" sz="3200" dirty="0"/>
          </a:p>
        </p:txBody>
      </p:sp>
      <p:sp>
        <p:nvSpPr>
          <p:cNvPr id="4" name="Shape 2"/>
          <p:cNvSpPr/>
          <p:nvPr/>
        </p:nvSpPr>
        <p:spPr>
          <a:xfrm>
            <a:off x="819117" y="1835045"/>
            <a:ext cx="2716125" cy="801755"/>
          </a:xfrm>
          <a:prstGeom prst="rect">
            <a:avLst/>
          </a:prstGeom>
          <a:solidFill>
            <a:srgbClr val="F6E1D5"/>
          </a:solidFill>
          <a:ln w="12700">
            <a:solidFill>
              <a:srgbClr val="16202E"/>
            </a:solidFill>
            <a:prstDash val="solid"/>
          </a:ln>
        </p:spPr>
      </p:sp>
      <p:sp>
        <p:nvSpPr>
          <p:cNvPr id="5" name="Text 3"/>
          <p:cNvSpPr/>
          <p:nvPr/>
        </p:nvSpPr>
        <p:spPr>
          <a:xfrm>
            <a:off x="1888636" y="1992095"/>
            <a:ext cx="627853" cy="2743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Invalid</a:t>
            </a:r>
            <a:endParaRPr lang="en-US" sz="1400" dirty="0"/>
          </a:p>
        </p:txBody>
      </p:sp>
      <p:sp>
        <p:nvSpPr>
          <p:cNvPr id="6" name="Text 4"/>
          <p:cNvSpPr/>
          <p:nvPr/>
        </p:nvSpPr>
        <p:spPr>
          <a:xfrm>
            <a:off x="1719895" y="2266392"/>
            <a:ext cx="965369"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age below 18</a:t>
            </a:r>
            <a:endParaRPr lang="en-US" sz="1200" dirty="0"/>
          </a:p>
        </p:txBody>
      </p:sp>
      <p:sp>
        <p:nvSpPr>
          <p:cNvPr id="7" name="Shape 5"/>
          <p:cNvSpPr/>
          <p:nvPr/>
        </p:nvSpPr>
        <p:spPr>
          <a:xfrm>
            <a:off x="3541592" y="1828695"/>
            <a:ext cx="5119825" cy="814455"/>
          </a:xfrm>
          <a:prstGeom prst="rect">
            <a:avLst/>
          </a:prstGeom>
          <a:solidFill>
            <a:srgbClr val="DCE6F3"/>
          </a:solidFill>
          <a:ln/>
        </p:spPr>
      </p:sp>
      <p:sp>
        <p:nvSpPr>
          <p:cNvPr id="8" name="Shape 6"/>
          <p:cNvSpPr/>
          <p:nvPr/>
        </p:nvSpPr>
        <p:spPr>
          <a:xfrm>
            <a:off x="3541592" y="1835045"/>
            <a:ext cx="5119825" cy="0"/>
          </a:xfrm>
          <a:prstGeom prst="line">
            <a:avLst/>
          </a:prstGeom>
          <a:noFill/>
          <a:ln w="12700">
            <a:solidFill>
              <a:srgbClr val="16202E"/>
            </a:solidFill>
            <a:prstDash val="solid"/>
          </a:ln>
        </p:spPr>
      </p:sp>
      <p:sp>
        <p:nvSpPr>
          <p:cNvPr id="9" name="Shape 7"/>
          <p:cNvSpPr/>
          <p:nvPr/>
        </p:nvSpPr>
        <p:spPr>
          <a:xfrm>
            <a:off x="8655067" y="1828695"/>
            <a:ext cx="0" cy="814455"/>
          </a:xfrm>
          <a:prstGeom prst="line">
            <a:avLst/>
          </a:prstGeom>
          <a:noFill/>
          <a:ln w="12700">
            <a:solidFill>
              <a:srgbClr val="16202E"/>
            </a:solidFill>
            <a:prstDash val="solid"/>
          </a:ln>
        </p:spPr>
      </p:sp>
      <p:sp>
        <p:nvSpPr>
          <p:cNvPr id="10" name="Shape 8"/>
          <p:cNvSpPr/>
          <p:nvPr/>
        </p:nvSpPr>
        <p:spPr>
          <a:xfrm>
            <a:off x="3541592" y="2636800"/>
            <a:ext cx="5119825" cy="0"/>
          </a:xfrm>
          <a:prstGeom prst="line">
            <a:avLst/>
          </a:prstGeom>
          <a:noFill/>
          <a:ln w="12700">
            <a:solidFill>
              <a:srgbClr val="16202E"/>
            </a:solidFill>
            <a:prstDash val="solid"/>
          </a:ln>
        </p:spPr>
      </p:sp>
      <p:sp>
        <p:nvSpPr>
          <p:cNvPr id="11" name="Text 9"/>
          <p:cNvSpPr/>
          <p:nvPr/>
        </p:nvSpPr>
        <p:spPr>
          <a:xfrm>
            <a:off x="5888977" y="1992095"/>
            <a:ext cx="464832" cy="2743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Valid</a:t>
            </a:r>
            <a:endParaRPr lang="en-US" sz="1400" dirty="0"/>
          </a:p>
        </p:txBody>
      </p:sp>
      <p:sp>
        <p:nvSpPr>
          <p:cNvPr id="12" name="Text 10"/>
          <p:cNvSpPr/>
          <p:nvPr/>
        </p:nvSpPr>
        <p:spPr>
          <a:xfrm>
            <a:off x="5490483" y="2266392"/>
            <a:ext cx="126178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18 to 60 inclusive</a:t>
            </a:r>
            <a:endParaRPr lang="en-US" sz="1200" dirty="0"/>
          </a:p>
        </p:txBody>
      </p:sp>
      <p:sp>
        <p:nvSpPr>
          <p:cNvPr id="13" name="Shape 11"/>
          <p:cNvSpPr/>
          <p:nvPr/>
        </p:nvSpPr>
        <p:spPr>
          <a:xfrm>
            <a:off x="8661418" y="1828695"/>
            <a:ext cx="2717801" cy="814455"/>
          </a:xfrm>
          <a:prstGeom prst="rect">
            <a:avLst/>
          </a:prstGeom>
          <a:solidFill>
            <a:srgbClr val="F6E1D5"/>
          </a:solidFill>
          <a:ln/>
        </p:spPr>
      </p:sp>
      <p:sp>
        <p:nvSpPr>
          <p:cNvPr id="14" name="Shape 12"/>
          <p:cNvSpPr/>
          <p:nvPr/>
        </p:nvSpPr>
        <p:spPr>
          <a:xfrm>
            <a:off x="8661418" y="1835045"/>
            <a:ext cx="2717801" cy="0"/>
          </a:xfrm>
          <a:prstGeom prst="line">
            <a:avLst/>
          </a:prstGeom>
          <a:noFill/>
          <a:ln w="12700">
            <a:solidFill>
              <a:srgbClr val="16202E"/>
            </a:solidFill>
            <a:prstDash val="solid"/>
          </a:ln>
        </p:spPr>
      </p:sp>
      <p:sp>
        <p:nvSpPr>
          <p:cNvPr id="15" name="Shape 13"/>
          <p:cNvSpPr/>
          <p:nvPr/>
        </p:nvSpPr>
        <p:spPr>
          <a:xfrm>
            <a:off x="11372869" y="1828695"/>
            <a:ext cx="0" cy="814455"/>
          </a:xfrm>
          <a:prstGeom prst="line">
            <a:avLst/>
          </a:prstGeom>
          <a:noFill/>
          <a:ln w="12700">
            <a:solidFill>
              <a:srgbClr val="16202E"/>
            </a:solidFill>
            <a:prstDash val="solid"/>
          </a:ln>
        </p:spPr>
      </p:sp>
      <p:sp>
        <p:nvSpPr>
          <p:cNvPr id="16" name="Shape 14"/>
          <p:cNvSpPr/>
          <p:nvPr/>
        </p:nvSpPr>
        <p:spPr>
          <a:xfrm>
            <a:off x="8661418" y="2636800"/>
            <a:ext cx="2717801" cy="0"/>
          </a:xfrm>
          <a:prstGeom prst="line">
            <a:avLst/>
          </a:prstGeom>
          <a:noFill/>
          <a:ln w="12700">
            <a:solidFill>
              <a:srgbClr val="16202E"/>
            </a:solidFill>
            <a:prstDash val="solid"/>
          </a:ln>
        </p:spPr>
      </p:sp>
      <p:sp>
        <p:nvSpPr>
          <p:cNvPr id="17" name="Text 15"/>
          <p:cNvSpPr/>
          <p:nvPr/>
        </p:nvSpPr>
        <p:spPr>
          <a:xfrm>
            <a:off x="9726262" y="1992095"/>
            <a:ext cx="627853" cy="2743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Invalid</a:t>
            </a:r>
            <a:endParaRPr lang="en-US" sz="1400" dirty="0"/>
          </a:p>
        </p:txBody>
      </p:sp>
      <p:sp>
        <p:nvSpPr>
          <p:cNvPr id="18" name="Text 16"/>
          <p:cNvSpPr/>
          <p:nvPr/>
        </p:nvSpPr>
        <p:spPr>
          <a:xfrm>
            <a:off x="9559417" y="2266392"/>
            <a:ext cx="96154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age above 60</a:t>
            </a:r>
            <a:endParaRPr lang="en-US" sz="1200" dirty="0"/>
          </a:p>
        </p:txBody>
      </p:sp>
      <p:sp>
        <p:nvSpPr>
          <p:cNvPr id="19" name="Shape 17"/>
          <p:cNvSpPr/>
          <p:nvPr/>
        </p:nvSpPr>
        <p:spPr>
          <a:xfrm>
            <a:off x="2819363" y="2744744"/>
            <a:ext cx="1270000" cy="350470"/>
          </a:xfrm>
          <a:prstGeom prst="roundRect">
            <a:avLst>
              <a:gd name="adj" fmla="val 50000"/>
            </a:avLst>
          </a:prstGeom>
          <a:solidFill>
            <a:srgbClr val="16202E"/>
          </a:solidFill>
          <a:ln/>
        </p:spPr>
      </p:sp>
      <p:sp>
        <p:nvSpPr>
          <p:cNvPr id="20" name="Text 18"/>
          <p:cNvSpPr/>
          <p:nvPr/>
        </p:nvSpPr>
        <p:spPr>
          <a:xfrm>
            <a:off x="2793963" y="2795544"/>
            <a:ext cx="1320800" cy="27427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6F4EF"/>
                </a:solidFill>
                <a:latin typeface="JetBrains Mono" pitchFamily="34" charset="0"/>
                <a:ea typeface="JetBrains Mono" pitchFamily="34" charset="-122"/>
                <a:cs typeface="JetBrains Mono" pitchFamily="34" charset="-120"/>
              </a:rPr>
              <a:t>17 | 18</a:t>
            </a:r>
            <a:endParaRPr lang="en-US" sz="1400" dirty="0"/>
          </a:p>
        </p:txBody>
      </p:sp>
      <p:sp>
        <p:nvSpPr>
          <p:cNvPr id="21" name="Shape 19"/>
          <p:cNvSpPr/>
          <p:nvPr/>
        </p:nvSpPr>
        <p:spPr>
          <a:xfrm>
            <a:off x="8102554" y="2744744"/>
            <a:ext cx="1270000" cy="350470"/>
          </a:xfrm>
          <a:prstGeom prst="roundRect">
            <a:avLst>
              <a:gd name="adj" fmla="val 50000"/>
            </a:avLst>
          </a:prstGeom>
          <a:solidFill>
            <a:srgbClr val="16202E"/>
          </a:solidFill>
          <a:ln/>
        </p:spPr>
      </p:sp>
      <p:sp>
        <p:nvSpPr>
          <p:cNvPr id="22" name="Text 20"/>
          <p:cNvSpPr/>
          <p:nvPr/>
        </p:nvSpPr>
        <p:spPr>
          <a:xfrm>
            <a:off x="8077154" y="2795544"/>
            <a:ext cx="1320800" cy="27427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6F4EF"/>
                </a:solidFill>
                <a:latin typeface="JetBrains Mono" pitchFamily="34" charset="0"/>
                <a:ea typeface="JetBrains Mono" pitchFamily="34" charset="-122"/>
                <a:cs typeface="JetBrains Mono" pitchFamily="34" charset="-120"/>
              </a:rPr>
              <a:t>60 | 61</a:t>
            </a:r>
            <a:endParaRPr lang="en-US" sz="1400" dirty="0"/>
          </a:p>
        </p:txBody>
      </p:sp>
      <p:sp>
        <p:nvSpPr>
          <p:cNvPr id="23" name="Shape 21"/>
          <p:cNvSpPr/>
          <p:nvPr/>
        </p:nvSpPr>
        <p:spPr>
          <a:xfrm>
            <a:off x="815942" y="3382882"/>
            <a:ext cx="5175280" cy="934609"/>
          </a:xfrm>
          <a:prstGeom prst="roundRect">
            <a:avLst>
              <a:gd name="adj" fmla="val 10531"/>
            </a:avLst>
          </a:prstGeom>
          <a:solidFill>
            <a:srgbClr val="FBFAF7"/>
          </a:solidFill>
          <a:ln w="6350">
            <a:solidFill>
              <a:srgbClr val="DDD7CA"/>
            </a:solidFill>
            <a:prstDash val="solid"/>
          </a:ln>
        </p:spPr>
      </p:sp>
      <p:sp>
        <p:nvSpPr>
          <p:cNvPr id="24" name="Text 22"/>
          <p:cNvSpPr/>
          <p:nvPr/>
        </p:nvSpPr>
        <p:spPr>
          <a:xfrm>
            <a:off x="1020368" y="3587310"/>
            <a:ext cx="4909420"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Equivalence partitioning</a:t>
            </a:r>
            <a:endParaRPr lang="en-US" sz="1400" dirty="0"/>
          </a:p>
        </p:txBody>
      </p:sp>
      <p:sp>
        <p:nvSpPr>
          <p:cNvPr id="25" name="Text 23"/>
          <p:cNvSpPr/>
          <p:nvPr/>
        </p:nvSpPr>
        <p:spPr>
          <a:xfrm>
            <a:off x="1020368" y="3864161"/>
            <a:ext cx="4909420"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One value per partition is enough: 10, 35 and 75. </a:t>
            </a:r>
            <a:r>
              <a:rPr lang="en-US" sz="1400" b="1" dirty="0">
                <a:solidFill>
                  <a:srgbClr val="4A5260"/>
                </a:solidFill>
                <a:latin typeface="IBM Plex Sans" pitchFamily="34" charset="0"/>
                <a:ea typeface="IBM Plex Sans" pitchFamily="34" charset="-122"/>
                <a:cs typeface="IBM Plex Sans" pitchFamily="34" charset="-120"/>
              </a:rPr>
              <a:t>3 tests.</a:t>
            </a:r>
            <a:endParaRPr lang="en-US" sz="1400" dirty="0"/>
          </a:p>
        </p:txBody>
      </p:sp>
      <p:sp>
        <p:nvSpPr>
          <p:cNvPr id="26" name="Shape 24"/>
          <p:cNvSpPr/>
          <p:nvPr/>
        </p:nvSpPr>
        <p:spPr>
          <a:xfrm>
            <a:off x="6200764" y="3382882"/>
            <a:ext cx="5175280" cy="934609"/>
          </a:xfrm>
          <a:prstGeom prst="roundRect">
            <a:avLst>
              <a:gd name="adj" fmla="val 10531"/>
            </a:avLst>
          </a:prstGeom>
          <a:solidFill>
            <a:srgbClr val="FBFAF7"/>
          </a:solidFill>
          <a:ln w="6350">
            <a:solidFill>
              <a:srgbClr val="DDD7CA"/>
            </a:solidFill>
            <a:prstDash val="solid"/>
          </a:ln>
        </p:spPr>
      </p:sp>
      <p:sp>
        <p:nvSpPr>
          <p:cNvPr id="27" name="Text 25"/>
          <p:cNvSpPr/>
          <p:nvPr/>
        </p:nvSpPr>
        <p:spPr>
          <a:xfrm>
            <a:off x="6405190" y="3587310"/>
            <a:ext cx="4909420"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Boundary value analysis</a:t>
            </a:r>
            <a:endParaRPr lang="en-US" sz="1400" dirty="0"/>
          </a:p>
        </p:txBody>
      </p:sp>
      <p:sp>
        <p:nvSpPr>
          <p:cNvPr id="28" name="Text 26"/>
          <p:cNvSpPr/>
          <p:nvPr/>
        </p:nvSpPr>
        <p:spPr>
          <a:xfrm>
            <a:off x="6405190" y="3864161"/>
            <a:ext cx="4909420"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Defects hide at the edges: 17, 18, 60 and 61. </a:t>
            </a:r>
            <a:r>
              <a:rPr lang="en-US" sz="1400" b="1" dirty="0">
                <a:solidFill>
                  <a:srgbClr val="4A5260"/>
                </a:solidFill>
                <a:latin typeface="IBM Plex Sans" pitchFamily="34" charset="0"/>
                <a:ea typeface="IBM Plex Sans" pitchFamily="34" charset="-122"/>
                <a:cs typeface="IBM Plex Sans" pitchFamily="34" charset="-120"/>
              </a:rPr>
              <a:t>4 tests.</a:t>
            </a:r>
            <a:endParaRPr lang="en-US" sz="1400" dirty="0"/>
          </a:p>
        </p:txBody>
      </p:sp>
      <p:sp>
        <p:nvSpPr>
          <p:cNvPr id="29" name="Text 27"/>
          <p:cNvSpPr/>
          <p:nvPr/>
        </p:nvSpPr>
        <p:spPr>
          <a:xfrm>
            <a:off x="812767" y="4574642"/>
            <a:ext cx="1088344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Also add invalid partitions for empty, negative, decimal and non-numeric input.</a:t>
            </a:r>
            <a:endParaRPr lang="en-US" sz="1200" dirty="0"/>
          </a:p>
        </p:txBody>
      </p:sp>
      <p:sp>
        <p:nvSpPr>
          <p:cNvPr id="30" name="Text 28"/>
          <p:cNvSpPr/>
          <p:nvPr/>
        </p:nvSpPr>
        <p:spPr>
          <a:xfrm>
            <a:off x="812767" y="623824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31" name="Text 29"/>
          <p:cNvSpPr/>
          <p:nvPr/>
        </p:nvSpPr>
        <p:spPr>
          <a:xfrm>
            <a:off x="10058419" y="6238242"/>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9"/>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PHASE 03 · TEST DEVELOPMENT</a:t>
            </a:r>
            <a:endParaRPr lang="en-US" sz="1200" dirty="0"/>
          </a:p>
        </p:txBody>
      </p:sp>
      <p:sp>
        <p:nvSpPr>
          <p:cNvPr id="3" name="Text 1"/>
          <p:cNvSpPr/>
          <p:nvPr/>
        </p:nvSpPr>
        <p:spPr>
          <a:xfrm>
            <a:off x="812767" y="1127714"/>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Anatomy of a good test case</a:t>
            </a:r>
            <a:endParaRPr lang="en-US" sz="3200" dirty="0"/>
          </a:p>
        </p:txBody>
      </p:sp>
      <p:sp>
        <p:nvSpPr>
          <p:cNvPr id="4" name="Text 2"/>
          <p:cNvSpPr/>
          <p:nvPr/>
        </p:nvSpPr>
        <p:spPr>
          <a:xfrm>
            <a:off x="812767" y="1879507"/>
            <a:ext cx="3401046" cy="2743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Good test cases are</a:t>
            </a:r>
            <a:endParaRPr lang="en-US" sz="1400" dirty="0"/>
          </a:p>
        </p:txBody>
      </p:sp>
      <p:sp>
        <p:nvSpPr>
          <p:cNvPr id="5" name="Text 3"/>
          <p:cNvSpPr/>
          <p:nvPr/>
        </p:nvSpPr>
        <p:spPr>
          <a:xfrm>
            <a:off x="812767" y="2280791"/>
            <a:ext cx="3401046"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8481A"/>
                </a:solidFill>
                <a:latin typeface="IBM Plex Sans" pitchFamily="34" charset="0"/>
                <a:ea typeface="IBM Plex Sans" pitchFamily="34" charset="-122"/>
                <a:cs typeface="IBM Plex Sans" pitchFamily="34" charset="-120"/>
              </a:rPr>
              <a:t>Atomic</a:t>
            </a:r>
            <a:endParaRPr lang="en-US" sz="1400" dirty="0"/>
          </a:p>
        </p:txBody>
      </p:sp>
      <p:sp>
        <p:nvSpPr>
          <p:cNvPr id="6" name="Text 4"/>
          <p:cNvSpPr/>
          <p:nvPr/>
        </p:nvSpPr>
        <p:spPr>
          <a:xfrm>
            <a:off x="812767" y="2519536"/>
            <a:ext cx="34010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One objective per test case.</a:t>
            </a:r>
            <a:endParaRPr lang="en-US" sz="1200" dirty="0"/>
          </a:p>
        </p:txBody>
      </p:sp>
      <p:sp>
        <p:nvSpPr>
          <p:cNvPr id="7" name="Text 5"/>
          <p:cNvSpPr/>
          <p:nvPr/>
        </p:nvSpPr>
        <p:spPr>
          <a:xfrm>
            <a:off x="812767" y="2885269"/>
            <a:ext cx="3401046"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8481A"/>
                </a:solidFill>
                <a:latin typeface="IBM Plex Sans" pitchFamily="34" charset="0"/>
                <a:ea typeface="IBM Plex Sans" pitchFamily="34" charset="-122"/>
                <a:cs typeface="IBM Plex Sans" pitchFamily="34" charset="-120"/>
              </a:rPr>
              <a:t>Repeatable</a:t>
            </a:r>
            <a:endParaRPr lang="en-US" sz="1400" dirty="0"/>
          </a:p>
        </p:txBody>
      </p:sp>
      <p:sp>
        <p:nvSpPr>
          <p:cNvPr id="8" name="Text 6"/>
          <p:cNvSpPr/>
          <p:nvPr/>
        </p:nvSpPr>
        <p:spPr>
          <a:xfrm>
            <a:off x="812767" y="3124014"/>
            <a:ext cx="34010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Anyone who runs it gets the same result.</a:t>
            </a:r>
            <a:endParaRPr lang="en-US" sz="1200" dirty="0"/>
          </a:p>
        </p:txBody>
      </p:sp>
      <p:sp>
        <p:nvSpPr>
          <p:cNvPr id="9" name="Text 7"/>
          <p:cNvSpPr/>
          <p:nvPr/>
        </p:nvSpPr>
        <p:spPr>
          <a:xfrm>
            <a:off x="812767" y="3489740"/>
            <a:ext cx="3401046"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8481A"/>
                </a:solidFill>
                <a:latin typeface="IBM Plex Sans" pitchFamily="34" charset="0"/>
                <a:ea typeface="IBM Plex Sans" pitchFamily="34" charset="-122"/>
                <a:cs typeface="IBM Plex Sans" pitchFamily="34" charset="-120"/>
              </a:rPr>
              <a:t>Traceable</a:t>
            </a:r>
            <a:endParaRPr lang="en-US" sz="1400" dirty="0"/>
          </a:p>
        </p:txBody>
      </p:sp>
      <p:sp>
        <p:nvSpPr>
          <p:cNvPr id="10" name="Text 8"/>
          <p:cNvSpPr/>
          <p:nvPr/>
        </p:nvSpPr>
        <p:spPr>
          <a:xfrm>
            <a:off x="812767" y="3728486"/>
            <a:ext cx="34010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Linked to the requirement it verifies.</a:t>
            </a:r>
            <a:endParaRPr lang="en-US" sz="1200" dirty="0"/>
          </a:p>
        </p:txBody>
      </p:sp>
      <p:sp>
        <p:nvSpPr>
          <p:cNvPr id="11" name="Text 9"/>
          <p:cNvSpPr/>
          <p:nvPr/>
        </p:nvSpPr>
        <p:spPr>
          <a:xfrm>
            <a:off x="812767" y="4094218"/>
            <a:ext cx="3401046"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8481A"/>
                </a:solidFill>
                <a:latin typeface="IBM Plex Sans" pitchFamily="34" charset="0"/>
                <a:ea typeface="IBM Plex Sans" pitchFamily="34" charset="-122"/>
                <a:cs typeface="IBM Plex Sans" pitchFamily="34" charset="-120"/>
              </a:rPr>
              <a:t>Independent</a:t>
            </a:r>
            <a:endParaRPr lang="en-US" sz="1400" dirty="0"/>
          </a:p>
        </p:txBody>
      </p:sp>
      <p:sp>
        <p:nvSpPr>
          <p:cNvPr id="12" name="Text 10"/>
          <p:cNvSpPr/>
          <p:nvPr/>
        </p:nvSpPr>
        <p:spPr>
          <a:xfrm>
            <a:off x="812767" y="4332963"/>
            <a:ext cx="340104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No hidden dependency on another test's order.</a:t>
            </a:r>
            <a:endParaRPr lang="en-US" sz="1200" dirty="0"/>
          </a:p>
        </p:txBody>
      </p:sp>
      <p:sp>
        <p:nvSpPr>
          <p:cNvPr id="13" name="Shape 11"/>
          <p:cNvSpPr/>
          <p:nvPr/>
        </p:nvSpPr>
        <p:spPr>
          <a:xfrm>
            <a:off x="4422716" y="1882682"/>
            <a:ext cx="6953328" cy="3266111"/>
          </a:xfrm>
          <a:prstGeom prst="roundRect">
            <a:avLst>
              <a:gd name="adj" fmla="val 3014"/>
            </a:avLst>
          </a:prstGeom>
          <a:solidFill>
            <a:srgbClr val="FBFAF7"/>
          </a:solidFill>
          <a:ln w="6350">
            <a:solidFill>
              <a:srgbClr val="DDD7CA"/>
            </a:solidFill>
            <a:prstDash val="solid"/>
          </a:ln>
        </p:spPr>
      </p:sp>
      <p:sp>
        <p:nvSpPr>
          <p:cNvPr id="14" name="Text 12"/>
          <p:cNvSpPr/>
          <p:nvPr/>
        </p:nvSpPr>
        <p:spPr>
          <a:xfrm>
            <a:off x="4652532" y="2112497"/>
            <a:ext cx="1447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ID</a:t>
            </a:r>
            <a:endParaRPr lang="en-US" sz="1200" dirty="0"/>
          </a:p>
        </p:txBody>
      </p:sp>
      <p:sp>
        <p:nvSpPr>
          <p:cNvPr id="15" name="Text 13"/>
          <p:cNvSpPr/>
          <p:nvPr/>
        </p:nvSpPr>
        <p:spPr>
          <a:xfrm>
            <a:off x="6201895" y="2112497"/>
            <a:ext cx="5092662"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TC-004</a:t>
            </a:r>
            <a:r>
              <a:rPr lang="en-US" sz="1200" dirty="0">
                <a:solidFill>
                  <a:srgbClr val="16202E"/>
                </a:solidFill>
                <a:latin typeface="IBM Plex Sans" pitchFamily="34" charset="0"/>
                <a:ea typeface="IBM Plex Sans" pitchFamily="34" charset="-122"/>
                <a:cs typeface="IBM Plex Sans" pitchFamily="34" charset="-120"/>
              </a:rPr>
              <a:t> · traces to REQ-02 · Priority: High</a:t>
            </a:r>
            <a:endParaRPr lang="en-US" sz="1200" dirty="0"/>
          </a:p>
        </p:txBody>
      </p:sp>
      <p:sp>
        <p:nvSpPr>
          <p:cNvPr id="16" name="Text 14"/>
          <p:cNvSpPr/>
          <p:nvPr/>
        </p:nvSpPr>
        <p:spPr>
          <a:xfrm>
            <a:off x="4652532" y="2414736"/>
            <a:ext cx="1447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Title</a:t>
            </a:r>
            <a:endParaRPr lang="en-US" sz="1200" dirty="0"/>
          </a:p>
        </p:txBody>
      </p:sp>
      <p:sp>
        <p:nvSpPr>
          <p:cNvPr id="17" name="Text 15"/>
          <p:cNvSpPr/>
          <p:nvPr/>
        </p:nvSpPr>
        <p:spPr>
          <a:xfrm>
            <a:off x="6201895" y="2414736"/>
            <a:ext cx="5092662"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Account locks after 5 failed logins</a:t>
            </a:r>
            <a:endParaRPr lang="en-US" sz="1200" dirty="0"/>
          </a:p>
        </p:txBody>
      </p:sp>
      <p:sp>
        <p:nvSpPr>
          <p:cNvPr id="18" name="Text 16"/>
          <p:cNvSpPr/>
          <p:nvPr/>
        </p:nvSpPr>
        <p:spPr>
          <a:xfrm>
            <a:off x="4652532" y="2716975"/>
            <a:ext cx="1447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Precondition</a:t>
            </a:r>
            <a:endParaRPr lang="en-US" sz="1200" dirty="0"/>
          </a:p>
        </p:txBody>
      </p:sp>
      <p:sp>
        <p:nvSpPr>
          <p:cNvPr id="19" name="Text 17"/>
          <p:cNvSpPr/>
          <p:nvPr/>
        </p:nvSpPr>
        <p:spPr>
          <a:xfrm>
            <a:off x="6201895" y="2716975"/>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Active account user@test.com exists and is not locked</a:t>
            </a:r>
            <a:endParaRPr lang="en-US" sz="1200" dirty="0"/>
          </a:p>
        </p:txBody>
      </p:sp>
      <p:sp>
        <p:nvSpPr>
          <p:cNvPr id="20" name="Text 18"/>
          <p:cNvSpPr/>
          <p:nvPr/>
        </p:nvSpPr>
        <p:spPr>
          <a:xfrm>
            <a:off x="4652532" y="3019214"/>
            <a:ext cx="1447786" cy="95499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Steps</a:t>
            </a:r>
            <a:endParaRPr lang="en-US" sz="1200" dirty="0"/>
          </a:p>
        </p:txBody>
      </p:sp>
      <p:sp>
        <p:nvSpPr>
          <p:cNvPr id="21" name="Text 19"/>
          <p:cNvSpPr/>
          <p:nvPr/>
        </p:nvSpPr>
        <p:spPr>
          <a:xfrm>
            <a:off x="6201895" y="3019214"/>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1. Open the login page</a:t>
            </a:r>
            <a:endParaRPr lang="en-US" sz="1200" dirty="0"/>
          </a:p>
        </p:txBody>
      </p:sp>
      <p:sp>
        <p:nvSpPr>
          <p:cNvPr id="22" name="Text 20"/>
          <p:cNvSpPr/>
          <p:nvPr/>
        </p:nvSpPr>
        <p:spPr>
          <a:xfrm>
            <a:off x="6201895" y="3257959"/>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2. Enter the email with a wrong password, submit</a:t>
            </a:r>
            <a:endParaRPr lang="en-US" sz="1200" dirty="0"/>
          </a:p>
        </p:txBody>
      </p:sp>
      <p:sp>
        <p:nvSpPr>
          <p:cNvPr id="23" name="Text 21"/>
          <p:cNvSpPr/>
          <p:nvPr/>
        </p:nvSpPr>
        <p:spPr>
          <a:xfrm>
            <a:off x="6201895" y="3496704"/>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3. Repeat step 2 until 5 attempts are made</a:t>
            </a:r>
            <a:endParaRPr lang="en-US" sz="1200" dirty="0"/>
          </a:p>
        </p:txBody>
      </p:sp>
      <p:sp>
        <p:nvSpPr>
          <p:cNvPr id="24" name="Text 22"/>
          <p:cNvSpPr/>
          <p:nvPr/>
        </p:nvSpPr>
        <p:spPr>
          <a:xfrm>
            <a:off x="6201895" y="3735450"/>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4. Enter the correct password, submit</a:t>
            </a:r>
            <a:endParaRPr lang="en-US" sz="1200" dirty="0"/>
          </a:p>
        </p:txBody>
      </p:sp>
      <p:sp>
        <p:nvSpPr>
          <p:cNvPr id="25" name="Text 23"/>
          <p:cNvSpPr/>
          <p:nvPr/>
        </p:nvSpPr>
        <p:spPr>
          <a:xfrm>
            <a:off x="4652532" y="4037688"/>
            <a:ext cx="1447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Test data</a:t>
            </a:r>
            <a:endParaRPr lang="en-US" sz="1200" dirty="0"/>
          </a:p>
        </p:txBody>
      </p:sp>
      <p:sp>
        <p:nvSpPr>
          <p:cNvPr id="26" name="Text 24"/>
          <p:cNvSpPr/>
          <p:nvPr/>
        </p:nvSpPr>
        <p:spPr>
          <a:xfrm>
            <a:off x="6201895" y="4037688"/>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user@test.com · wrong password: WrongPass!1</a:t>
            </a:r>
            <a:endParaRPr lang="en-US" sz="1200" dirty="0"/>
          </a:p>
        </p:txBody>
      </p:sp>
      <p:sp>
        <p:nvSpPr>
          <p:cNvPr id="27" name="Shape 25"/>
          <p:cNvSpPr/>
          <p:nvPr/>
        </p:nvSpPr>
        <p:spPr>
          <a:xfrm>
            <a:off x="4652532" y="4339921"/>
            <a:ext cx="6493695" cy="579052"/>
          </a:xfrm>
          <a:prstGeom prst="roundRect">
            <a:avLst>
              <a:gd name="adj" fmla="val 8773"/>
            </a:avLst>
          </a:prstGeom>
          <a:solidFill>
            <a:srgbClr val="DCE6F3"/>
          </a:solidFill>
          <a:ln/>
        </p:spPr>
      </p:sp>
      <p:sp>
        <p:nvSpPr>
          <p:cNvPr id="28" name="Text 26"/>
          <p:cNvSpPr/>
          <p:nvPr/>
        </p:nvSpPr>
        <p:spPr>
          <a:xfrm>
            <a:off x="4754128" y="4416096"/>
            <a:ext cx="1346190"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A85"/>
                </a:solidFill>
                <a:latin typeface="JetBrains Mono" pitchFamily="34" charset="0"/>
                <a:ea typeface="JetBrains Mono" pitchFamily="34" charset="-122"/>
                <a:cs typeface="JetBrains Mono" pitchFamily="34" charset="-120"/>
              </a:rPr>
              <a:t>Expected</a:t>
            </a:r>
            <a:endParaRPr lang="en-US" sz="1200" dirty="0"/>
          </a:p>
        </p:txBody>
      </p:sp>
      <p:sp>
        <p:nvSpPr>
          <p:cNvPr id="29" name="Text 27"/>
          <p:cNvSpPr/>
          <p:nvPr/>
        </p:nvSpPr>
        <p:spPr>
          <a:xfrm>
            <a:off x="6201895" y="4416096"/>
            <a:ext cx="4988018"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After attempt 5 an “Account locked” message shows; in step 4 the correct password is also rejected</a:t>
            </a:r>
            <a:endParaRPr lang="en-US" sz="1200" dirty="0"/>
          </a:p>
        </p:txBody>
      </p:sp>
      <p:sp>
        <p:nvSpPr>
          <p:cNvPr id="30" name="Text 28"/>
          <p:cNvSpPr/>
          <p:nvPr/>
        </p:nvSpPr>
        <p:spPr>
          <a:xfrm>
            <a:off x="812767" y="623824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31" name="Text 29"/>
          <p:cNvSpPr/>
          <p:nvPr/>
        </p:nvSpPr>
        <p:spPr>
          <a:xfrm>
            <a:off x="10058419" y="6238242"/>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9"/>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PHASE 04 · TEST EXECUTION</a:t>
            </a:r>
            <a:endParaRPr lang="en-US" sz="1200" dirty="0"/>
          </a:p>
        </p:txBody>
      </p:sp>
      <p:sp>
        <p:nvSpPr>
          <p:cNvPr id="3" name="Text 1"/>
          <p:cNvSpPr/>
          <p:nvPr/>
        </p:nvSpPr>
        <p:spPr>
          <a:xfrm>
            <a:off x="812767" y="1127720"/>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Run, record, report: every result is evidence</a:t>
            </a:r>
            <a:endParaRPr lang="en-US" sz="3200" dirty="0"/>
          </a:p>
        </p:txBody>
      </p:sp>
      <p:sp>
        <p:nvSpPr>
          <p:cNvPr id="4" name="Shape 2"/>
          <p:cNvSpPr/>
          <p:nvPr/>
        </p:nvSpPr>
        <p:spPr>
          <a:xfrm>
            <a:off x="815942" y="1882682"/>
            <a:ext cx="1944366" cy="1015844"/>
          </a:xfrm>
          <a:prstGeom prst="roundRect">
            <a:avLst>
              <a:gd name="adj" fmla="val 9689"/>
            </a:avLst>
          </a:prstGeom>
          <a:solidFill>
            <a:srgbClr val="FBFAF7"/>
          </a:solidFill>
          <a:ln w="6350">
            <a:solidFill>
              <a:srgbClr val="DDD7CA"/>
            </a:solidFill>
            <a:prstDash val="solid"/>
          </a:ln>
        </p:spPr>
      </p:sp>
      <p:sp>
        <p:nvSpPr>
          <p:cNvPr id="5" name="Text 3"/>
          <p:cNvSpPr/>
          <p:nvPr/>
        </p:nvSpPr>
        <p:spPr>
          <a:xfrm>
            <a:off x="969553" y="2036297"/>
            <a:ext cx="1687944"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1</a:t>
            </a:r>
            <a:endParaRPr lang="en-US" sz="1200" dirty="0"/>
          </a:p>
        </p:txBody>
      </p:sp>
      <p:sp>
        <p:nvSpPr>
          <p:cNvPr id="6" name="Text 4"/>
          <p:cNvSpPr/>
          <p:nvPr/>
        </p:nvSpPr>
        <p:spPr>
          <a:xfrm>
            <a:off x="969553" y="2300430"/>
            <a:ext cx="1687944" cy="469886"/>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Smoke test the build</a:t>
            </a:r>
            <a:endParaRPr lang="en-US" sz="1400" dirty="0"/>
          </a:p>
        </p:txBody>
      </p:sp>
      <p:pic>
        <p:nvPicPr>
          <p:cNvPr id="7" name="Image 0" descr="connector">    </p:cNvPr>
          <p:cNvPicPr>
            <a:picLocks noChangeAspect="1"/>
          </p:cNvPicPr>
          <p:nvPr/>
        </p:nvPicPr>
        <p:blipFill>
          <a:blip r:embed="rId1"/>
          <a:srcRect l="-17" r="-17" t="0" b="0"/>
          <a:stretch/>
        </p:blipFill>
        <p:spPr>
          <a:xfrm>
            <a:off x="2763483" y="2352520"/>
            <a:ext cx="203192" cy="76171"/>
          </a:xfrm>
          <a:prstGeom prst="rect">
            <a:avLst/>
          </a:prstGeom>
        </p:spPr>
      </p:pic>
      <p:sp>
        <p:nvSpPr>
          <p:cNvPr id="8" name="Shape 5"/>
          <p:cNvSpPr/>
          <p:nvPr/>
        </p:nvSpPr>
        <p:spPr>
          <a:xfrm>
            <a:off x="2969850" y="1882682"/>
            <a:ext cx="1944401" cy="1015844"/>
          </a:xfrm>
          <a:prstGeom prst="roundRect">
            <a:avLst>
              <a:gd name="adj" fmla="val 9689"/>
            </a:avLst>
          </a:prstGeom>
          <a:solidFill>
            <a:srgbClr val="FBFAF7"/>
          </a:solidFill>
          <a:ln w="6350">
            <a:solidFill>
              <a:srgbClr val="DDD7CA"/>
            </a:solidFill>
            <a:prstDash val="solid"/>
          </a:ln>
        </p:spPr>
      </p:sp>
      <p:sp>
        <p:nvSpPr>
          <p:cNvPr id="9" name="Text 6"/>
          <p:cNvSpPr/>
          <p:nvPr/>
        </p:nvSpPr>
        <p:spPr>
          <a:xfrm>
            <a:off x="3123461" y="2036297"/>
            <a:ext cx="168797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2</a:t>
            </a:r>
            <a:endParaRPr lang="en-US" sz="1200" dirty="0"/>
          </a:p>
        </p:txBody>
      </p:sp>
      <p:sp>
        <p:nvSpPr>
          <p:cNvPr id="10" name="Text 7"/>
          <p:cNvSpPr/>
          <p:nvPr/>
        </p:nvSpPr>
        <p:spPr>
          <a:xfrm>
            <a:off x="3123461" y="2300430"/>
            <a:ext cx="1687978"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Execute by priority</a:t>
            </a:r>
            <a:endParaRPr lang="en-US" sz="1400" dirty="0"/>
          </a:p>
        </p:txBody>
      </p:sp>
      <p:pic>
        <p:nvPicPr>
          <p:cNvPr id="11" name="Image 1" descr="connector">    </p:cNvPr>
          <p:cNvPicPr>
            <a:picLocks noChangeAspect="1"/>
          </p:cNvPicPr>
          <p:nvPr/>
        </p:nvPicPr>
        <p:blipFill>
          <a:blip r:embed="rId2"/>
          <a:srcRect l="-17" r="-17" t="0" b="0"/>
          <a:stretch/>
        </p:blipFill>
        <p:spPr>
          <a:xfrm>
            <a:off x="4917426" y="2352520"/>
            <a:ext cx="203192" cy="76171"/>
          </a:xfrm>
          <a:prstGeom prst="rect">
            <a:avLst/>
          </a:prstGeom>
        </p:spPr>
      </p:pic>
      <p:sp>
        <p:nvSpPr>
          <p:cNvPr id="12" name="Shape 8"/>
          <p:cNvSpPr/>
          <p:nvPr/>
        </p:nvSpPr>
        <p:spPr>
          <a:xfrm>
            <a:off x="5123792" y="1882682"/>
            <a:ext cx="1944366" cy="1015844"/>
          </a:xfrm>
          <a:prstGeom prst="roundRect">
            <a:avLst>
              <a:gd name="adj" fmla="val 9689"/>
            </a:avLst>
          </a:prstGeom>
          <a:solidFill>
            <a:srgbClr val="FBFAF7"/>
          </a:solidFill>
          <a:ln w="6350">
            <a:solidFill>
              <a:srgbClr val="DDD7CA"/>
            </a:solidFill>
            <a:prstDash val="solid"/>
          </a:ln>
        </p:spPr>
      </p:sp>
      <p:sp>
        <p:nvSpPr>
          <p:cNvPr id="13" name="Text 9"/>
          <p:cNvSpPr/>
          <p:nvPr/>
        </p:nvSpPr>
        <p:spPr>
          <a:xfrm>
            <a:off x="5277404" y="2036297"/>
            <a:ext cx="1687944"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3</a:t>
            </a:r>
            <a:endParaRPr lang="en-US" sz="1200" dirty="0"/>
          </a:p>
        </p:txBody>
      </p:sp>
      <p:sp>
        <p:nvSpPr>
          <p:cNvPr id="14" name="Text 10"/>
          <p:cNvSpPr/>
          <p:nvPr/>
        </p:nvSpPr>
        <p:spPr>
          <a:xfrm>
            <a:off x="5277404" y="2300430"/>
            <a:ext cx="1687944" cy="469886"/>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Record actual results</a:t>
            </a:r>
            <a:endParaRPr lang="en-US" sz="1400" dirty="0"/>
          </a:p>
        </p:txBody>
      </p:sp>
      <p:pic>
        <p:nvPicPr>
          <p:cNvPr id="15" name="Image 2" descr="connector">    </p:cNvPr>
          <p:cNvPicPr>
            <a:picLocks noChangeAspect="1"/>
          </p:cNvPicPr>
          <p:nvPr/>
        </p:nvPicPr>
        <p:blipFill>
          <a:blip r:embed="rId3"/>
          <a:srcRect l="-17" r="-17" t="0" b="0"/>
          <a:stretch/>
        </p:blipFill>
        <p:spPr>
          <a:xfrm>
            <a:off x="7071333" y="2352520"/>
            <a:ext cx="203192" cy="76171"/>
          </a:xfrm>
          <a:prstGeom prst="rect">
            <a:avLst/>
          </a:prstGeom>
        </p:spPr>
      </p:pic>
      <p:sp>
        <p:nvSpPr>
          <p:cNvPr id="16" name="Shape 11"/>
          <p:cNvSpPr/>
          <p:nvPr/>
        </p:nvSpPr>
        <p:spPr>
          <a:xfrm>
            <a:off x="7277701" y="1882682"/>
            <a:ext cx="1944401" cy="1015844"/>
          </a:xfrm>
          <a:prstGeom prst="roundRect">
            <a:avLst>
              <a:gd name="adj" fmla="val 9689"/>
            </a:avLst>
          </a:prstGeom>
          <a:solidFill>
            <a:srgbClr val="FBFAF7"/>
          </a:solidFill>
          <a:ln w="6350">
            <a:solidFill>
              <a:srgbClr val="DDD7CA"/>
            </a:solidFill>
            <a:prstDash val="solid"/>
          </a:ln>
        </p:spPr>
      </p:sp>
      <p:sp>
        <p:nvSpPr>
          <p:cNvPr id="17" name="Text 12"/>
          <p:cNvSpPr/>
          <p:nvPr/>
        </p:nvSpPr>
        <p:spPr>
          <a:xfrm>
            <a:off x="7431312" y="2036297"/>
            <a:ext cx="168797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4</a:t>
            </a:r>
            <a:endParaRPr lang="en-US" sz="1200" dirty="0"/>
          </a:p>
        </p:txBody>
      </p:sp>
      <p:sp>
        <p:nvSpPr>
          <p:cNvPr id="18" name="Text 13"/>
          <p:cNvSpPr/>
          <p:nvPr/>
        </p:nvSpPr>
        <p:spPr>
          <a:xfrm>
            <a:off x="7431312" y="2300430"/>
            <a:ext cx="1687978" cy="469886"/>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Log defects for failures</a:t>
            </a:r>
            <a:endParaRPr lang="en-US" sz="1400" dirty="0"/>
          </a:p>
        </p:txBody>
      </p:sp>
      <p:pic>
        <p:nvPicPr>
          <p:cNvPr id="19" name="Image 3" descr="connector">    </p:cNvPr>
          <p:cNvPicPr>
            <a:picLocks noChangeAspect="1"/>
          </p:cNvPicPr>
          <p:nvPr/>
        </p:nvPicPr>
        <p:blipFill>
          <a:blip r:embed="rId4"/>
          <a:srcRect l="-17" r="-17" t="0" b="0"/>
          <a:stretch/>
        </p:blipFill>
        <p:spPr>
          <a:xfrm>
            <a:off x="9225276" y="2352520"/>
            <a:ext cx="203192" cy="76171"/>
          </a:xfrm>
          <a:prstGeom prst="rect">
            <a:avLst/>
          </a:prstGeom>
        </p:spPr>
      </p:pic>
      <p:sp>
        <p:nvSpPr>
          <p:cNvPr id="20" name="Shape 14"/>
          <p:cNvSpPr/>
          <p:nvPr/>
        </p:nvSpPr>
        <p:spPr>
          <a:xfrm>
            <a:off x="9431643" y="1882682"/>
            <a:ext cx="1944401" cy="1015844"/>
          </a:xfrm>
          <a:prstGeom prst="roundRect">
            <a:avLst>
              <a:gd name="adj" fmla="val 9689"/>
            </a:avLst>
          </a:prstGeom>
          <a:solidFill>
            <a:srgbClr val="FBFAF7"/>
          </a:solidFill>
          <a:ln w="6350">
            <a:solidFill>
              <a:srgbClr val="DDD7CA"/>
            </a:solidFill>
            <a:prstDash val="solid"/>
          </a:ln>
        </p:spPr>
      </p:sp>
      <p:sp>
        <p:nvSpPr>
          <p:cNvPr id="21" name="Text 15"/>
          <p:cNvSpPr/>
          <p:nvPr/>
        </p:nvSpPr>
        <p:spPr>
          <a:xfrm>
            <a:off x="9585254" y="2036297"/>
            <a:ext cx="168797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5</a:t>
            </a:r>
            <a:endParaRPr lang="en-US" sz="1200" dirty="0"/>
          </a:p>
        </p:txBody>
      </p:sp>
      <p:sp>
        <p:nvSpPr>
          <p:cNvPr id="22" name="Text 16"/>
          <p:cNvSpPr/>
          <p:nvPr/>
        </p:nvSpPr>
        <p:spPr>
          <a:xfrm>
            <a:off x="9585254" y="2300430"/>
            <a:ext cx="1687978" cy="469886"/>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Retest fixes, run regression</a:t>
            </a:r>
            <a:endParaRPr lang="en-US" sz="1400" dirty="0"/>
          </a:p>
        </p:txBody>
      </p:sp>
      <p:sp>
        <p:nvSpPr>
          <p:cNvPr id="23" name="Text 17"/>
          <p:cNvSpPr/>
          <p:nvPr/>
        </p:nvSpPr>
        <p:spPr>
          <a:xfrm>
            <a:off x="812767" y="3206490"/>
            <a:ext cx="10883445"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Every executed test gets one status</a:t>
            </a:r>
            <a:endParaRPr lang="en-US" sz="1200" dirty="0"/>
          </a:p>
        </p:txBody>
      </p:sp>
      <p:sp>
        <p:nvSpPr>
          <p:cNvPr id="24" name="Shape 18"/>
          <p:cNvSpPr/>
          <p:nvPr/>
        </p:nvSpPr>
        <p:spPr>
          <a:xfrm>
            <a:off x="812767" y="3521441"/>
            <a:ext cx="2546373" cy="932105"/>
          </a:xfrm>
          <a:prstGeom prst="roundRect">
            <a:avLst>
              <a:gd name="adj" fmla="val 5450"/>
            </a:avLst>
          </a:prstGeom>
          <a:solidFill>
            <a:srgbClr val="FBFAF7"/>
          </a:solidFill>
          <a:ln/>
        </p:spPr>
      </p:sp>
      <p:sp>
        <p:nvSpPr>
          <p:cNvPr id="25" name="Shape 19"/>
          <p:cNvSpPr/>
          <p:nvPr/>
        </p:nvSpPr>
        <p:spPr>
          <a:xfrm>
            <a:off x="812767" y="3521441"/>
            <a:ext cx="2546373" cy="932105"/>
          </a:xfrm>
          <a:custGeom>
            <a:avLst/>
            <a:gdLst/>
            <a:ahLst/>
            <a:cxnLst/>
            <a:rect l="l" t="t" r="r" b="b"/>
            <a:pathLst>
              <a:path w="2546373" h="932105">
                <a:moveTo>
                  <a:pt x="50800" y="932105"/>
                </a:moveTo>
                <a:lnTo>
                  <a:pt x="50800" y="932105"/>
                </a:lnTo>
                <a:arcTo hR="50800" wR="50800" stAng="5400000" swAng="5400000"/>
                <a:lnTo>
                  <a:pt x="0" y="50800"/>
                </a:lnTo>
                <a:arcTo hR="50800" wR="50800" stAng="10800000" swAng="5400000"/>
                <a:lnTo>
                  <a:pt x="50800" y="0"/>
                </a:lnTo>
                <a:lnTo>
                  <a:pt x="50800" y="932105"/>
                </a:lnTo>
                <a:close/>
              </a:path>
            </a:pathLst>
          </a:custGeom>
          <a:solidFill>
            <a:srgbClr val="1F4A85"/>
          </a:solidFill>
          <a:ln/>
        </p:spPr>
      </p:sp>
      <p:sp>
        <p:nvSpPr>
          <p:cNvPr id="26" name="Text 20"/>
          <p:cNvSpPr/>
          <p:nvPr/>
        </p:nvSpPr>
        <p:spPr>
          <a:xfrm>
            <a:off x="1015855" y="3648428"/>
            <a:ext cx="2256636"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Passed</a:t>
            </a:r>
            <a:endParaRPr lang="en-US" sz="1400" dirty="0"/>
          </a:p>
        </p:txBody>
      </p:sp>
      <p:sp>
        <p:nvSpPr>
          <p:cNvPr id="27" name="Text 21"/>
          <p:cNvSpPr/>
          <p:nvPr/>
        </p:nvSpPr>
        <p:spPr>
          <a:xfrm>
            <a:off x="1015855" y="3899849"/>
            <a:ext cx="2256636"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Actual result matches expected.</a:t>
            </a:r>
            <a:endParaRPr lang="en-US" sz="1200" dirty="0"/>
          </a:p>
        </p:txBody>
      </p:sp>
      <p:sp>
        <p:nvSpPr>
          <p:cNvPr id="28" name="Shape 22"/>
          <p:cNvSpPr/>
          <p:nvPr/>
        </p:nvSpPr>
        <p:spPr>
          <a:xfrm>
            <a:off x="3486126" y="3521441"/>
            <a:ext cx="2546373" cy="932105"/>
          </a:xfrm>
          <a:prstGeom prst="roundRect">
            <a:avLst>
              <a:gd name="adj" fmla="val 5450"/>
            </a:avLst>
          </a:prstGeom>
          <a:solidFill>
            <a:srgbClr val="FBFAF7"/>
          </a:solidFill>
          <a:ln/>
        </p:spPr>
      </p:sp>
      <p:sp>
        <p:nvSpPr>
          <p:cNvPr id="29" name="Shape 23"/>
          <p:cNvSpPr/>
          <p:nvPr/>
        </p:nvSpPr>
        <p:spPr>
          <a:xfrm>
            <a:off x="3486126" y="3521441"/>
            <a:ext cx="2546373" cy="932105"/>
          </a:xfrm>
          <a:custGeom>
            <a:avLst/>
            <a:gdLst/>
            <a:ahLst/>
            <a:cxnLst/>
            <a:rect l="l" t="t" r="r" b="b"/>
            <a:pathLst>
              <a:path w="2546373" h="932105">
                <a:moveTo>
                  <a:pt x="50800" y="932105"/>
                </a:moveTo>
                <a:lnTo>
                  <a:pt x="50800" y="932105"/>
                </a:lnTo>
                <a:arcTo hR="50800" wR="50800" stAng="5400000" swAng="5400000"/>
                <a:lnTo>
                  <a:pt x="0" y="50800"/>
                </a:lnTo>
                <a:arcTo hR="50800" wR="50800" stAng="10800000" swAng="5400000"/>
                <a:lnTo>
                  <a:pt x="50800" y="0"/>
                </a:lnTo>
                <a:lnTo>
                  <a:pt x="50800" y="932105"/>
                </a:lnTo>
                <a:close/>
              </a:path>
            </a:pathLst>
          </a:custGeom>
          <a:solidFill>
            <a:srgbClr val="B8481A"/>
          </a:solidFill>
          <a:ln/>
        </p:spPr>
      </p:sp>
      <p:sp>
        <p:nvSpPr>
          <p:cNvPr id="30" name="Text 24"/>
          <p:cNvSpPr/>
          <p:nvPr/>
        </p:nvSpPr>
        <p:spPr>
          <a:xfrm>
            <a:off x="3689215" y="3648428"/>
            <a:ext cx="2256636"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Failed</a:t>
            </a:r>
            <a:endParaRPr lang="en-US" sz="1400" dirty="0"/>
          </a:p>
        </p:txBody>
      </p:sp>
      <p:sp>
        <p:nvSpPr>
          <p:cNvPr id="31" name="Text 25"/>
          <p:cNvSpPr/>
          <p:nvPr/>
        </p:nvSpPr>
        <p:spPr>
          <a:xfrm>
            <a:off x="3689215" y="3899849"/>
            <a:ext cx="2256636"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Actual differs from expected: raise a defect.</a:t>
            </a:r>
            <a:endParaRPr lang="en-US" sz="1200" dirty="0"/>
          </a:p>
        </p:txBody>
      </p:sp>
      <p:sp>
        <p:nvSpPr>
          <p:cNvPr id="32" name="Shape 26"/>
          <p:cNvSpPr/>
          <p:nvPr/>
        </p:nvSpPr>
        <p:spPr>
          <a:xfrm>
            <a:off x="6159486" y="3521441"/>
            <a:ext cx="2546373" cy="932105"/>
          </a:xfrm>
          <a:prstGeom prst="roundRect">
            <a:avLst>
              <a:gd name="adj" fmla="val 5450"/>
            </a:avLst>
          </a:prstGeom>
          <a:solidFill>
            <a:srgbClr val="FBFAF7"/>
          </a:solidFill>
          <a:ln/>
        </p:spPr>
      </p:sp>
      <p:sp>
        <p:nvSpPr>
          <p:cNvPr id="33" name="Shape 27"/>
          <p:cNvSpPr/>
          <p:nvPr/>
        </p:nvSpPr>
        <p:spPr>
          <a:xfrm>
            <a:off x="6159486" y="3521441"/>
            <a:ext cx="2546373" cy="932105"/>
          </a:xfrm>
          <a:custGeom>
            <a:avLst/>
            <a:gdLst/>
            <a:ahLst/>
            <a:cxnLst/>
            <a:rect l="l" t="t" r="r" b="b"/>
            <a:pathLst>
              <a:path w="2546373" h="932105">
                <a:moveTo>
                  <a:pt x="50800" y="932105"/>
                </a:moveTo>
                <a:lnTo>
                  <a:pt x="50800" y="932105"/>
                </a:lnTo>
                <a:arcTo hR="50800" wR="50800" stAng="5400000" swAng="5400000"/>
                <a:lnTo>
                  <a:pt x="0" y="50800"/>
                </a:lnTo>
                <a:arcTo hR="50800" wR="50800" stAng="10800000" swAng="5400000"/>
                <a:lnTo>
                  <a:pt x="50800" y="0"/>
                </a:lnTo>
                <a:lnTo>
                  <a:pt x="50800" y="932105"/>
                </a:lnTo>
                <a:close/>
              </a:path>
            </a:pathLst>
          </a:custGeom>
          <a:solidFill>
            <a:srgbClr val="5E6571"/>
          </a:solidFill>
          <a:ln/>
        </p:spPr>
      </p:sp>
      <p:sp>
        <p:nvSpPr>
          <p:cNvPr id="34" name="Text 28"/>
          <p:cNvSpPr/>
          <p:nvPr/>
        </p:nvSpPr>
        <p:spPr>
          <a:xfrm>
            <a:off x="6362574" y="3648428"/>
            <a:ext cx="2256636"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Blocked</a:t>
            </a:r>
            <a:endParaRPr lang="en-US" sz="1400" dirty="0"/>
          </a:p>
        </p:txBody>
      </p:sp>
      <p:sp>
        <p:nvSpPr>
          <p:cNvPr id="35" name="Text 29"/>
          <p:cNvSpPr/>
          <p:nvPr/>
        </p:nvSpPr>
        <p:spPr>
          <a:xfrm>
            <a:off x="6362574" y="3899849"/>
            <a:ext cx="2256636"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Cannot run: environment down or another defect in the way.</a:t>
            </a:r>
            <a:endParaRPr lang="en-US" sz="1200" dirty="0"/>
          </a:p>
        </p:txBody>
      </p:sp>
      <p:sp>
        <p:nvSpPr>
          <p:cNvPr id="36" name="Shape 30"/>
          <p:cNvSpPr/>
          <p:nvPr/>
        </p:nvSpPr>
        <p:spPr>
          <a:xfrm>
            <a:off x="8832845" y="3521441"/>
            <a:ext cx="2546373" cy="932105"/>
          </a:xfrm>
          <a:prstGeom prst="roundRect">
            <a:avLst>
              <a:gd name="adj" fmla="val 5450"/>
            </a:avLst>
          </a:prstGeom>
          <a:solidFill>
            <a:srgbClr val="FBFAF7"/>
          </a:solidFill>
          <a:ln/>
        </p:spPr>
      </p:sp>
      <p:sp>
        <p:nvSpPr>
          <p:cNvPr id="37" name="Shape 31"/>
          <p:cNvSpPr/>
          <p:nvPr/>
        </p:nvSpPr>
        <p:spPr>
          <a:xfrm>
            <a:off x="8832845" y="3521441"/>
            <a:ext cx="2546373" cy="932105"/>
          </a:xfrm>
          <a:custGeom>
            <a:avLst/>
            <a:gdLst/>
            <a:ahLst/>
            <a:cxnLst/>
            <a:rect l="l" t="t" r="r" b="b"/>
            <a:pathLst>
              <a:path w="2546373" h="932105">
                <a:moveTo>
                  <a:pt x="50800" y="932105"/>
                </a:moveTo>
                <a:lnTo>
                  <a:pt x="50800" y="932105"/>
                </a:lnTo>
                <a:arcTo hR="50800" wR="50800" stAng="5400000" swAng="5400000"/>
                <a:lnTo>
                  <a:pt x="0" y="50800"/>
                </a:lnTo>
                <a:arcTo hR="50800" wR="50800" stAng="10800000" swAng="5400000"/>
                <a:lnTo>
                  <a:pt x="50800" y="0"/>
                </a:lnTo>
                <a:lnTo>
                  <a:pt x="50800" y="932105"/>
                </a:lnTo>
                <a:close/>
              </a:path>
            </a:pathLst>
          </a:custGeom>
          <a:solidFill>
            <a:srgbClr val="C9C1B0"/>
          </a:solidFill>
          <a:ln/>
        </p:spPr>
      </p:sp>
      <p:sp>
        <p:nvSpPr>
          <p:cNvPr id="38" name="Text 32"/>
          <p:cNvSpPr/>
          <p:nvPr/>
        </p:nvSpPr>
        <p:spPr>
          <a:xfrm>
            <a:off x="9035934" y="3648428"/>
            <a:ext cx="2256636"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Not run</a:t>
            </a:r>
            <a:endParaRPr lang="en-US" sz="1400" dirty="0"/>
          </a:p>
        </p:txBody>
      </p:sp>
      <p:sp>
        <p:nvSpPr>
          <p:cNvPr id="39" name="Text 33"/>
          <p:cNvSpPr/>
          <p:nvPr/>
        </p:nvSpPr>
        <p:spPr>
          <a:xfrm>
            <a:off x="9035934" y="3899849"/>
            <a:ext cx="2256636"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Not executed yet, or descoped with a reason.</a:t>
            </a:r>
            <a:endParaRPr lang="en-US" sz="1200" dirty="0"/>
          </a:p>
        </p:txBody>
      </p:sp>
      <p:sp>
        <p:nvSpPr>
          <p:cNvPr id="40" name="Text 34"/>
          <p:cNvSpPr/>
          <p:nvPr/>
        </p:nvSpPr>
        <p:spPr>
          <a:xfrm>
            <a:off x="812767" y="623824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41" name="Text 35"/>
          <p:cNvSpPr/>
          <p:nvPr/>
        </p:nvSpPr>
        <p:spPr>
          <a:xfrm>
            <a:off x="10058419" y="6238242"/>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9"/>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PHASE 04 · TEST EXECUTION</a:t>
            </a:r>
            <a:endParaRPr lang="en-US" sz="1200" dirty="0"/>
          </a:p>
        </p:txBody>
      </p:sp>
      <p:sp>
        <p:nvSpPr>
          <p:cNvPr id="3" name="Text 1"/>
          <p:cNvSpPr/>
          <p:nvPr/>
        </p:nvSpPr>
        <p:spPr>
          <a:xfrm>
            <a:off x="812767" y="1127720"/>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Metrics that show where testing stands</a:t>
            </a:r>
            <a:endParaRPr lang="en-US" sz="3200" dirty="0"/>
          </a:p>
        </p:txBody>
      </p:sp>
      <p:sp>
        <p:nvSpPr>
          <p:cNvPr id="4" name="Shape 2"/>
          <p:cNvSpPr/>
          <p:nvPr/>
        </p:nvSpPr>
        <p:spPr>
          <a:xfrm>
            <a:off x="812767" y="1879507"/>
            <a:ext cx="10566452" cy="2321650"/>
          </a:xfrm>
          <a:prstGeom prst="rect">
            <a:avLst/>
          </a:prstGeom>
          <a:solidFill>
            <a:srgbClr val="FBFAF7"/>
          </a:solidFill>
          <a:ln/>
        </p:spPr>
      </p:sp>
      <p:sp>
        <p:nvSpPr>
          <p:cNvPr id="5" name="Shape 3"/>
          <p:cNvSpPr/>
          <p:nvPr/>
        </p:nvSpPr>
        <p:spPr>
          <a:xfrm>
            <a:off x="11376044" y="1879507"/>
            <a:ext cx="0" cy="2321650"/>
          </a:xfrm>
          <a:prstGeom prst="line">
            <a:avLst/>
          </a:prstGeom>
          <a:noFill/>
          <a:ln w="6350">
            <a:solidFill>
              <a:srgbClr val="DDD7CA"/>
            </a:solidFill>
            <a:prstDash val="solid"/>
          </a:ln>
        </p:spPr>
      </p:sp>
      <p:sp>
        <p:nvSpPr>
          <p:cNvPr id="6" name="Shape 4"/>
          <p:cNvSpPr/>
          <p:nvPr/>
        </p:nvSpPr>
        <p:spPr>
          <a:xfrm>
            <a:off x="812767" y="4197982"/>
            <a:ext cx="10566452" cy="0"/>
          </a:xfrm>
          <a:prstGeom prst="line">
            <a:avLst/>
          </a:prstGeom>
          <a:noFill/>
          <a:ln w="6350">
            <a:solidFill>
              <a:srgbClr val="DDD7CA"/>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791" y="1890531"/>
          <a:ext cx="10551018" cy="2306216"/>
        </p:xfrm>
        <a:graphic>
          <a:graphicData uri="http://schemas.openxmlformats.org/drawingml/2006/table">
            <a:tbl>
              <a:tblPr/>
              <a:tblGrid>
                <a:gridCol w="2637754"/>
                <a:gridCol w="4747958"/>
                <a:gridCol w="3165305"/>
              </a:tblGrid>
              <a:tr h="384369">
                <a:tc>
                  <a:txBody>
                    <a:bodyPr/>
                    <a:lstStyle/>
                    <a:p>
                      <a:pPr indent="0" marL="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Metric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How to calculate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960"/>
                        </a:lnSpc>
                        <a:buNone/>
                      </a:pPr>
                      <a:r>
                        <a:rPr lang="en-US" sz="1400" b="1" dirty="0">
                          <a:solidFill>
                            <a:srgbClr val="F6F4EF"/>
                          </a:solidFill>
                          <a:latin typeface="IBM Plex Sans" pitchFamily="34" charset="0"/>
                          <a:ea typeface="IBM Plex Sans" pitchFamily="34" charset="-122"/>
                          <a:cs typeface="IBM Plex Sans" pitchFamily="34" charset="-120"/>
                        </a:rPr>
                        <a:t>What it tells you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84369">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Execution progress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executed ÷ planned test cases × 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Are we on schedule?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4369">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Pass rate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passed ÷ executed × 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How stable is the build?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r>
              <a:tr h="384369">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Defect density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defects ÷ size (KLOC, story points or modules)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Which areas are riskiest?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84369">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Open defects by severity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unresolved defects, grouped by severity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Are we ready to release?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r>
              <a:tr h="384369">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Defect leakage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defects found after release ÷ all defects × 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How effective was testing?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bl>
          </a:graphicData>
        </a:graphic>
      </p:graphicFrame>
      <p:sp>
        <p:nvSpPr>
          <p:cNvPr id="8" name="Text 5"/>
          <p:cNvSpPr/>
          <p:nvPr/>
        </p:nvSpPr>
        <p:spPr>
          <a:xfrm>
            <a:off x="812767" y="623824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9" name="Text 6"/>
          <p:cNvSpPr/>
          <p:nvPr/>
        </p:nvSpPr>
        <p:spPr>
          <a:xfrm>
            <a:off x="10058419" y="6238242"/>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3"/>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DEFECT MANAGEMENT</a:t>
            </a:r>
            <a:endParaRPr lang="en-US" sz="1200" dirty="0"/>
          </a:p>
        </p:txBody>
      </p:sp>
      <p:sp>
        <p:nvSpPr>
          <p:cNvPr id="3" name="Text 1"/>
          <p:cNvSpPr/>
          <p:nvPr/>
        </p:nvSpPr>
        <p:spPr>
          <a:xfrm>
            <a:off x="812767" y="1127714"/>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The life of a defect</a:t>
            </a:r>
            <a:endParaRPr lang="en-US" sz="3200" dirty="0"/>
          </a:p>
        </p:txBody>
      </p:sp>
      <p:sp>
        <p:nvSpPr>
          <p:cNvPr id="4" name="Shape 2"/>
          <p:cNvSpPr/>
          <p:nvPr/>
        </p:nvSpPr>
        <p:spPr>
          <a:xfrm>
            <a:off x="819117" y="1885857"/>
            <a:ext cx="1257300" cy="546094"/>
          </a:xfrm>
          <a:prstGeom prst="roundRect">
            <a:avLst>
              <a:gd name="adj" fmla="val 12791"/>
            </a:avLst>
          </a:prstGeom>
          <a:solidFill>
            <a:srgbClr val="FBFAF7"/>
          </a:solidFill>
          <a:ln w="12700">
            <a:solidFill>
              <a:srgbClr val="16202E"/>
            </a:solidFill>
            <a:prstDash val="solid"/>
          </a:ln>
        </p:spPr>
      </p:sp>
      <p:sp>
        <p:nvSpPr>
          <p:cNvPr id="5" name="Text 3"/>
          <p:cNvSpPr/>
          <p:nvPr/>
        </p:nvSpPr>
        <p:spPr>
          <a:xfrm>
            <a:off x="1154717" y="2052210"/>
            <a:ext cx="586064"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1 · New</a:t>
            </a:r>
            <a:endParaRPr lang="en-US" sz="1200" dirty="0"/>
          </a:p>
        </p:txBody>
      </p:sp>
      <p:sp>
        <p:nvSpPr>
          <p:cNvPr id="6" name="Shape 4"/>
          <p:cNvSpPr/>
          <p:nvPr/>
        </p:nvSpPr>
        <p:spPr>
          <a:xfrm>
            <a:off x="2368514" y="1885857"/>
            <a:ext cx="1257300" cy="546094"/>
          </a:xfrm>
          <a:prstGeom prst="roundRect">
            <a:avLst>
              <a:gd name="adj" fmla="val 12791"/>
            </a:avLst>
          </a:prstGeom>
          <a:solidFill>
            <a:srgbClr val="FBFAF7"/>
          </a:solidFill>
          <a:ln w="12700">
            <a:solidFill>
              <a:srgbClr val="16202E"/>
            </a:solidFill>
            <a:prstDash val="solid"/>
          </a:ln>
        </p:spPr>
      </p:sp>
      <p:sp>
        <p:nvSpPr>
          <p:cNvPr id="7" name="Text 5"/>
          <p:cNvSpPr/>
          <p:nvPr/>
        </p:nvSpPr>
        <p:spPr>
          <a:xfrm>
            <a:off x="2541231" y="2052210"/>
            <a:ext cx="911833"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2 · Assigned</a:t>
            </a:r>
            <a:endParaRPr lang="en-US" sz="1200" dirty="0"/>
          </a:p>
        </p:txBody>
      </p:sp>
      <p:sp>
        <p:nvSpPr>
          <p:cNvPr id="8" name="Shape 6"/>
          <p:cNvSpPr/>
          <p:nvPr/>
        </p:nvSpPr>
        <p:spPr>
          <a:xfrm>
            <a:off x="3917911" y="1885857"/>
            <a:ext cx="1257300" cy="546094"/>
          </a:xfrm>
          <a:prstGeom prst="roundRect">
            <a:avLst>
              <a:gd name="adj" fmla="val 12791"/>
            </a:avLst>
          </a:prstGeom>
          <a:solidFill>
            <a:srgbClr val="FBFAF7"/>
          </a:solidFill>
          <a:ln w="12700">
            <a:solidFill>
              <a:srgbClr val="16202E"/>
            </a:solidFill>
            <a:prstDash val="solid"/>
          </a:ln>
        </p:spPr>
      </p:sp>
      <p:sp>
        <p:nvSpPr>
          <p:cNvPr id="9" name="Text 7"/>
          <p:cNvSpPr/>
          <p:nvPr/>
        </p:nvSpPr>
        <p:spPr>
          <a:xfrm>
            <a:off x="4225606" y="2052210"/>
            <a:ext cx="641875"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3 · Open</a:t>
            </a:r>
            <a:endParaRPr lang="en-US" sz="1200" dirty="0"/>
          </a:p>
        </p:txBody>
      </p:sp>
      <p:sp>
        <p:nvSpPr>
          <p:cNvPr id="10" name="Shape 8"/>
          <p:cNvSpPr/>
          <p:nvPr/>
        </p:nvSpPr>
        <p:spPr>
          <a:xfrm>
            <a:off x="5467309" y="1885857"/>
            <a:ext cx="1257300" cy="546094"/>
          </a:xfrm>
          <a:prstGeom prst="roundRect">
            <a:avLst>
              <a:gd name="adj" fmla="val 12791"/>
            </a:avLst>
          </a:prstGeom>
          <a:solidFill>
            <a:srgbClr val="FBFAF7"/>
          </a:solidFill>
          <a:ln w="12700">
            <a:solidFill>
              <a:srgbClr val="16202E"/>
            </a:solidFill>
            <a:prstDash val="solid"/>
          </a:ln>
        </p:spPr>
      </p:sp>
      <p:sp>
        <p:nvSpPr>
          <p:cNvPr id="11" name="Text 9"/>
          <p:cNvSpPr/>
          <p:nvPr/>
        </p:nvSpPr>
        <p:spPr>
          <a:xfrm>
            <a:off x="5768734" y="2052210"/>
            <a:ext cx="654415"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4 · Fixed</a:t>
            </a:r>
            <a:endParaRPr lang="en-US" sz="1200" dirty="0"/>
          </a:p>
        </p:txBody>
      </p:sp>
      <p:sp>
        <p:nvSpPr>
          <p:cNvPr id="12" name="Shape 10"/>
          <p:cNvSpPr/>
          <p:nvPr/>
        </p:nvSpPr>
        <p:spPr>
          <a:xfrm>
            <a:off x="7016706" y="1885857"/>
            <a:ext cx="1257300" cy="546094"/>
          </a:xfrm>
          <a:prstGeom prst="roundRect">
            <a:avLst>
              <a:gd name="adj" fmla="val 12791"/>
            </a:avLst>
          </a:prstGeom>
          <a:solidFill>
            <a:srgbClr val="FBFAF7"/>
          </a:solidFill>
          <a:ln w="12700">
            <a:solidFill>
              <a:srgbClr val="16202E"/>
            </a:solidFill>
            <a:prstDash val="solid"/>
          </a:ln>
        </p:spPr>
      </p:sp>
      <p:sp>
        <p:nvSpPr>
          <p:cNvPr id="13" name="Text 11"/>
          <p:cNvSpPr/>
          <p:nvPr/>
        </p:nvSpPr>
        <p:spPr>
          <a:xfrm>
            <a:off x="7283128" y="2052210"/>
            <a:ext cx="724454"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5 · Retest</a:t>
            </a:r>
            <a:endParaRPr lang="en-US" sz="1200" dirty="0"/>
          </a:p>
        </p:txBody>
      </p:sp>
      <p:sp>
        <p:nvSpPr>
          <p:cNvPr id="14" name="Shape 12"/>
          <p:cNvSpPr/>
          <p:nvPr/>
        </p:nvSpPr>
        <p:spPr>
          <a:xfrm>
            <a:off x="8566103" y="1885857"/>
            <a:ext cx="1257300" cy="546094"/>
          </a:xfrm>
          <a:prstGeom prst="roundRect">
            <a:avLst>
              <a:gd name="adj" fmla="val 12791"/>
            </a:avLst>
          </a:prstGeom>
          <a:solidFill>
            <a:srgbClr val="DCE6F3"/>
          </a:solidFill>
          <a:ln w="12700">
            <a:solidFill>
              <a:srgbClr val="16202E"/>
            </a:solidFill>
            <a:prstDash val="solid"/>
          </a:ln>
        </p:spPr>
      </p:sp>
      <p:sp>
        <p:nvSpPr>
          <p:cNvPr id="15" name="Text 13"/>
          <p:cNvSpPr/>
          <p:nvPr/>
        </p:nvSpPr>
        <p:spPr>
          <a:xfrm>
            <a:off x="8785845" y="2052210"/>
            <a:ext cx="817816"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6 · Verified</a:t>
            </a:r>
            <a:endParaRPr lang="en-US" sz="1200" dirty="0"/>
          </a:p>
        </p:txBody>
      </p:sp>
      <p:sp>
        <p:nvSpPr>
          <p:cNvPr id="16" name="Shape 14"/>
          <p:cNvSpPr/>
          <p:nvPr/>
        </p:nvSpPr>
        <p:spPr>
          <a:xfrm>
            <a:off x="10115500" y="1885857"/>
            <a:ext cx="1257300" cy="546094"/>
          </a:xfrm>
          <a:prstGeom prst="roundRect">
            <a:avLst>
              <a:gd name="adj" fmla="val 12791"/>
            </a:avLst>
          </a:prstGeom>
          <a:solidFill>
            <a:srgbClr val="DCE6F3"/>
          </a:solidFill>
          <a:ln w="12700">
            <a:solidFill>
              <a:srgbClr val="16202E"/>
            </a:solidFill>
            <a:prstDash val="solid"/>
          </a:ln>
        </p:spPr>
      </p:sp>
      <p:sp>
        <p:nvSpPr>
          <p:cNvPr id="17" name="Text 15"/>
          <p:cNvSpPr/>
          <p:nvPr/>
        </p:nvSpPr>
        <p:spPr>
          <a:xfrm>
            <a:off x="10370038" y="2052210"/>
            <a:ext cx="748225"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7 · Closed</a:t>
            </a:r>
            <a:endParaRPr lang="en-US" sz="1200" dirty="0"/>
          </a:p>
        </p:txBody>
      </p:sp>
      <p:sp>
        <p:nvSpPr>
          <p:cNvPr id="18" name="Shape 16"/>
          <p:cNvSpPr/>
          <p:nvPr/>
        </p:nvSpPr>
        <p:spPr>
          <a:xfrm>
            <a:off x="2114507" y="3359045"/>
            <a:ext cx="1765279" cy="546094"/>
          </a:xfrm>
          <a:prstGeom prst="roundRect">
            <a:avLst>
              <a:gd name="adj" fmla="val 12791"/>
            </a:avLst>
          </a:prstGeom>
          <a:solidFill>
            <a:srgbClr val="FBFAF7"/>
          </a:solidFill>
          <a:ln w="12700">
            <a:solidFill>
              <a:srgbClr val="5E6571"/>
            </a:solidFill>
            <a:prstDash val="dash"/>
          </a:ln>
        </p:spPr>
      </p:sp>
      <p:sp>
        <p:nvSpPr>
          <p:cNvPr id="19" name="Text 17"/>
          <p:cNvSpPr/>
          <p:nvPr/>
        </p:nvSpPr>
        <p:spPr>
          <a:xfrm>
            <a:off x="2092843" y="3418737"/>
            <a:ext cx="1808609" cy="4521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Rejected, Duplicate or Deferred</a:t>
            </a:r>
            <a:endParaRPr lang="en-US" sz="1200" dirty="0"/>
          </a:p>
        </p:txBody>
      </p:sp>
      <p:sp>
        <p:nvSpPr>
          <p:cNvPr id="20" name="Shape 18"/>
          <p:cNvSpPr/>
          <p:nvPr/>
        </p:nvSpPr>
        <p:spPr>
          <a:xfrm>
            <a:off x="5467309" y="3359045"/>
            <a:ext cx="1257300" cy="546094"/>
          </a:xfrm>
          <a:prstGeom prst="roundRect">
            <a:avLst>
              <a:gd name="adj" fmla="val 12791"/>
            </a:avLst>
          </a:prstGeom>
          <a:solidFill>
            <a:srgbClr val="F6E1D5"/>
          </a:solidFill>
          <a:ln w="12700">
            <a:solidFill>
              <a:srgbClr val="B8481A"/>
            </a:solidFill>
            <a:prstDash val="solid"/>
          </a:ln>
        </p:spPr>
      </p:sp>
      <p:sp>
        <p:nvSpPr>
          <p:cNvPr id="21" name="Text 19"/>
          <p:cNvSpPr/>
          <p:nvPr/>
        </p:nvSpPr>
        <p:spPr>
          <a:xfrm>
            <a:off x="5714404" y="3525397"/>
            <a:ext cx="763073" cy="238755"/>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Reopened</a:t>
            </a:r>
            <a:endParaRPr lang="en-US" sz="1200" dirty="0"/>
          </a:p>
        </p:txBody>
      </p:sp>
      <p:pic>
        <p:nvPicPr>
          <p:cNvPr id="22" name="Image 0" descr="connector">    </p:cNvPr>
          <p:cNvPicPr>
            <a:picLocks noChangeAspect="1"/>
          </p:cNvPicPr>
          <p:nvPr/>
        </p:nvPicPr>
        <p:blipFill>
          <a:blip r:embed="rId1"/>
          <a:srcRect l="-14" r="-14" t="0" b="0"/>
          <a:stretch/>
        </p:blipFill>
        <p:spPr>
          <a:xfrm>
            <a:off x="2044664" y="2120801"/>
            <a:ext cx="355568" cy="76171"/>
          </a:xfrm>
          <a:prstGeom prst="rect">
            <a:avLst/>
          </a:prstGeom>
        </p:spPr>
      </p:pic>
      <p:pic>
        <p:nvPicPr>
          <p:cNvPr id="23" name="Image 1" descr="connector">    </p:cNvPr>
          <p:cNvPicPr>
            <a:picLocks noChangeAspect="1"/>
          </p:cNvPicPr>
          <p:nvPr/>
        </p:nvPicPr>
        <p:blipFill>
          <a:blip r:embed="rId2"/>
          <a:srcRect l="-14" r="-14" t="0" b="0"/>
          <a:stretch/>
        </p:blipFill>
        <p:spPr>
          <a:xfrm>
            <a:off x="3594061" y="2120801"/>
            <a:ext cx="355568" cy="76171"/>
          </a:xfrm>
          <a:prstGeom prst="rect">
            <a:avLst/>
          </a:prstGeom>
        </p:spPr>
      </p:pic>
      <p:pic>
        <p:nvPicPr>
          <p:cNvPr id="24" name="Image 2" descr="connector">    </p:cNvPr>
          <p:cNvPicPr>
            <a:picLocks noChangeAspect="1"/>
          </p:cNvPicPr>
          <p:nvPr/>
        </p:nvPicPr>
        <p:blipFill>
          <a:blip r:embed="rId3"/>
          <a:srcRect l="-14" r="-14" t="0" b="0"/>
          <a:stretch/>
        </p:blipFill>
        <p:spPr>
          <a:xfrm>
            <a:off x="5143459" y="2120801"/>
            <a:ext cx="355568" cy="76171"/>
          </a:xfrm>
          <a:prstGeom prst="rect">
            <a:avLst/>
          </a:prstGeom>
        </p:spPr>
      </p:pic>
      <p:pic>
        <p:nvPicPr>
          <p:cNvPr id="25" name="Image 3" descr="connector">    </p:cNvPr>
          <p:cNvPicPr>
            <a:picLocks noChangeAspect="1"/>
          </p:cNvPicPr>
          <p:nvPr/>
        </p:nvPicPr>
        <p:blipFill>
          <a:blip r:embed="rId4"/>
          <a:srcRect l="-14" r="-14" t="0" b="0"/>
          <a:stretch/>
        </p:blipFill>
        <p:spPr>
          <a:xfrm>
            <a:off x="6692856" y="2120801"/>
            <a:ext cx="355568" cy="76171"/>
          </a:xfrm>
          <a:prstGeom prst="rect">
            <a:avLst/>
          </a:prstGeom>
        </p:spPr>
      </p:pic>
      <p:pic>
        <p:nvPicPr>
          <p:cNvPr id="26" name="Image 4" descr="connector">    </p:cNvPr>
          <p:cNvPicPr>
            <a:picLocks noChangeAspect="1"/>
          </p:cNvPicPr>
          <p:nvPr/>
        </p:nvPicPr>
        <p:blipFill>
          <a:blip r:embed="rId5"/>
          <a:srcRect l="-14" r="-14" t="0" b="0"/>
          <a:stretch/>
        </p:blipFill>
        <p:spPr>
          <a:xfrm>
            <a:off x="8242253" y="2120801"/>
            <a:ext cx="355568" cy="76171"/>
          </a:xfrm>
          <a:prstGeom prst="rect">
            <a:avLst/>
          </a:prstGeom>
        </p:spPr>
      </p:pic>
      <p:pic>
        <p:nvPicPr>
          <p:cNvPr id="27" name="Image 5" descr="connector">    </p:cNvPr>
          <p:cNvPicPr>
            <a:picLocks noChangeAspect="1"/>
          </p:cNvPicPr>
          <p:nvPr/>
        </p:nvPicPr>
        <p:blipFill>
          <a:blip r:embed="rId6"/>
          <a:srcRect l="-14" r="-14" t="0" b="0"/>
          <a:stretch/>
        </p:blipFill>
        <p:spPr>
          <a:xfrm>
            <a:off x="9791650" y="2120801"/>
            <a:ext cx="355568" cy="76171"/>
          </a:xfrm>
          <a:prstGeom prst="rect">
            <a:avLst/>
          </a:prstGeom>
        </p:spPr>
      </p:pic>
      <p:pic>
        <p:nvPicPr>
          <p:cNvPr id="28" name="Image 6" descr="connector">    </p:cNvPr>
          <p:cNvPicPr>
            <a:picLocks noChangeAspect="1"/>
          </p:cNvPicPr>
          <p:nvPr/>
        </p:nvPicPr>
        <p:blipFill>
          <a:blip r:embed="rId7"/>
          <a:srcRect l="0" r="0" t="-17" b="-17"/>
          <a:stretch/>
        </p:blipFill>
        <p:spPr>
          <a:xfrm>
            <a:off x="2959061" y="2400195"/>
            <a:ext cx="76171" cy="990568"/>
          </a:xfrm>
          <a:prstGeom prst="rect">
            <a:avLst/>
          </a:prstGeom>
        </p:spPr>
      </p:pic>
      <p:pic>
        <p:nvPicPr>
          <p:cNvPr id="29" name="Image 7" descr="connector">    </p:cNvPr>
          <p:cNvPicPr>
            <a:picLocks noChangeAspect="1"/>
          </p:cNvPicPr>
          <p:nvPr/>
        </p:nvPicPr>
        <p:blipFill>
          <a:blip r:embed="rId8"/>
          <a:srcRect l="0" r="0" t="0" b="0"/>
          <a:stretch/>
        </p:blipFill>
        <p:spPr>
          <a:xfrm>
            <a:off x="6680143" y="2387482"/>
            <a:ext cx="1015993" cy="1295390"/>
          </a:xfrm>
          <a:prstGeom prst="rect">
            <a:avLst/>
          </a:prstGeom>
        </p:spPr>
      </p:pic>
      <p:pic>
        <p:nvPicPr>
          <p:cNvPr id="30" name="Image 8" descr="connector">    </p:cNvPr>
          <p:cNvPicPr>
            <a:picLocks noChangeAspect="1"/>
          </p:cNvPicPr>
          <p:nvPr/>
        </p:nvPicPr>
        <p:blipFill>
          <a:blip r:embed="rId9"/>
          <a:srcRect l="0" r="0" t="0" b="0"/>
          <a:stretch/>
        </p:blipFill>
        <p:spPr>
          <a:xfrm>
            <a:off x="4495746" y="2387482"/>
            <a:ext cx="1015993" cy="1295390"/>
          </a:xfrm>
          <a:prstGeom prst="rect">
            <a:avLst/>
          </a:prstGeom>
        </p:spPr>
      </p:pic>
      <p:sp>
        <p:nvSpPr>
          <p:cNvPr id="31" name="Text 20"/>
          <p:cNvSpPr/>
          <p:nvPr/>
        </p:nvSpPr>
        <p:spPr>
          <a:xfrm>
            <a:off x="3086047" y="2743088"/>
            <a:ext cx="132080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Not valid</a:t>
            </a:r>
            <a:endParaRPr lang="en-US" sz="1200" dirty="0"/>
          </a:p>
        </p:txBody>
      </p:sp>
      <p:sp>
        <p:nvSpPr>
          <p:cNvPr id="32" name="Text 21"/>
          <p:cNvSpPr/>
          <p:nvPr/>
        </p:nvSpPr>
        <p:spPr>
          <a:xfrm>
            <a:off x="7734239" y="2743088"/>
            <a:ext cx="1447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3510"/>
                </a:solidFill>
                <a:latin typeface="IBM Plex Sans" pitchFamily="34" charset="0"/>
                <a:ea typeface="IBM Plex Sans" pitchFamily="34" charset="-122"/>
                <a:cs typeface="IBM Plex Sans" pitchFamily="34" charset="-120"/>
              </a:rPr>
              <a:t>Fails retest</a:t>
            </a:r>
            <a:endParaRPr lang="en-US" sz="1200" dirty="0"/>
          </a:p>
        </p:txBody>
      </p:sp>
      <p:sp>
        <p:nvSpPr>
          <p:cNvPr id="33" name="Shape 22"/>
          <p:cNvSpPr/>
          <p:nvPr/>
        </p:nvSpPr>
        <p:spPr>
          <a:xfrm>
            <a:off x="812767" y="4216276"/>
            <a:ext cx="3420566" cy="982886"/>
          </a:xfrm>
          <a:prstGeom prst="roundRect">
            <a:avLst>
              <a:gd name="adj" fmla="val 7753"/>
            </a:avLst>
          </a:prstGeom>
          <a:solidFill>
            <a:srgbClr val="ECE7DC"/>
          </a:solidFill>
          <a:ln/>
        </p:spPr>
      </p:sp>
      <p:sp>
        <p:nvSpPr>
          <p:cNvPr id="34" name="Text 23"/>
          <p:cNvSpPr/>
          <p:nvPr/>
        </p:nvSpPr>
        <p:spPr>
          <a:xfrm>
            <a:off x="965144" y="4368657"/>
            <a:ext cx="3209288"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Tester</a:t>
            </a:r>
            <a:endParaRPr lang="en-US" sz="1400" dirty="0"/>
          </a:p>
        </p:txBody>
      </p:sp>
      <p:sp>
        <p:nvSpPr>
          <p:cNvPr id="35" name="Text 24"/>
          <p:cNvSpPr/>
          <p:nvPr/>
        </p:nvSpPr>
        <p:spPr>
          <a:xfrm>
            <a:off x="965144" y="4620078"/>
            <a:ext cx="3209288"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Raises it, retests the fix, then verifies, closes or reopens.</a:t>
            </a:r>
            <a:endParaRPr lang="en-US" sz="1200" dirty="0"/>
          </a:p>
        </p:txBody>
      </p:sp>
      <p:sp>
        <p:nvSpPr>
          <p:cNvPr id="36" name="Shape 25"/>
          <p:cNvSpPr/>
          <p:nvPr/>
        </p:nvSpPr>
        <p:spPr>
          <a:xfrm>
            <a:off x="4385710" y="4216276"/>
            <a:ext cx="3420566" cy="982886"/>
          </a:xfrm>
          <a:prstGeom prst="roundRect">
            <a:avLst>
              <a:gd name="adj" fmla="val 7753"/>
            </a:avLst>
          </a:prstGeom>
          <a:solidFill>
            <a:srgbClr val="ECE7DC"/>
          </a:solidFill>
          <a:ln/>
        </p:spPr>
      </p:sp>
      <p:sp>
        <p:nvSpPr>
          <p:cNvPr id="37" name="Text 26"/>
          <p:cNvSpPr/>
          <p:nvPr/>
        </p:nvSpPr>
        <p:spPr>
          <a:xfrm>
            <a:off x="4538086" y="4368657"/>
            <a:ext cx="3209288"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Test lead or PM</a:t>
            </a:r>
            <a:endParaRPr lang="en-US" sz="1400" dirty="0"/>
          </a:p>
        </p:txBody>
      </p:sp>
      <p:sp>
        <p:nvSpPr>
          <p:cNvPr id="38" name="Text 27"/>
          <p:cNvSpPr/>
          <p:nvPr/>
        </p:nvSpPr>
        <p:spPr>
          <a:xfrm>
            <a:off x="4538086" y="4620078"/>
            <a:ext cx="320928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Triages: assigns, defers or rejects it.</a:t>
            </a:r>
            <a:endParaRPr lang="en-US" sz="1200" dirty="0"/>
          </a:p>
        </p:txBody>
      </p:sp>
      <p:sp>
        <p:nvSpPr>
          <p:cNvPr id="39" name="Shape 28"/>
          <p:cNvSpPr/>
          <p:nvPr/>
        </p:nvSpPr>
        <p:spPr>
          <a:xfrm>
            <a:off x="7958652" y="4216276"/>
            <a:ext cx="3420566" cy="982886"/>
          </a:xfrm>
          <a:prstGeom prst="roundRect">
            <a:avLst>
              <a:gd name="adj" fmla="val 7753"/>
            </a:avLst>
          </a:prstGeom>
          <a:solidFill>
            <a:srgbClr val="ECE7DC"/>
          </a:solidFill>
          <a:ln/>
        </p:spPr>
      </p:sp>
      <p:sp>
        <p:nvSpPr>
          <p:cNvPr id="40" name="Text 29"/>
          <p:cNvSpPr/>
          <p:nvPr/>
        </p:nvSpPr>
        <p:spPr>
          <a:xfrm>
            <a:off x="8111029" y="4368657"/>
            <a:ext cx="3209288"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Developer</a:t>
            </a:r>
            <a:endParaRPr lang="en-US" sz="1400" dirty="0"/>
          </a:p>
        </p:txBody>
      </p:sp>
      <p:sp>
        <p:nvSpPr>
          <p:cNvPr id="41" name="Text 30"/>
          <p:cNvSpPr/>
          <p:nvPr/>
        </p:nvSpPr>
        <p:spPr>
          <a:xfrm>
            <a:off x="8111029" y="4620078"/>
            <a:ext cx="320928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Opens it, fixes it and hands it back for retest.</a:t>
            </a:r>
            <a:endParaRPr lang="en-US" sz="1200" dirty="0"/>
          </a:p>
        </p:txBody>
      </p:sp>
      <p:sp>
        <p:nvSpPr>
          <p:cNvPr id="42" name="Text 31"/>
          <p:cNvSpPr/>
          <p:nvPr/>
        </p:nvSpPr>
        <p:spPr>
          <a:xfrm>
            <a:off x="812767" y="6238236"/>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43" name="Text 32"/>
          <p:cNvSpPr/>
          <p:nvPr/>
        </p:nvSpPr>
        <p:spPr>
          <a:xfrm>
            <a:off x="10058419" y="6238236"/>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9"/>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DEFECT MANAGEMENT</a:t>
            </a:r>
            <a:endParaRPr lang="en-US" sz="1200" dirty="0"/>
          </a:p>
        </p:txBody>
      </p:sp>
      <p:sp>
        <p:nvSpPr>
          <p:cNvPr id="3" name="Text 1"/>
          <p:cNvSpPr/>
          <p:nvPr/>
        </p:nvSpPr>
        <p:spPr>
          <a:xfrm>
            <a:off x="812767" y="1127720"/>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Write bug reports developers can act on</a:t>
            </a:r>
            <a:endParaRPr lang="en-US" sz="3200" dirty="0"/>
          </a:p>
        </p:txBody>
      </p:sp>
      <p:sp>
        <p:nvSpPr>
          <p:cNvPr id="4" name="Text 2"/>
          <p:cNvSpPr/>
          <p:nvPr/>
        </p:nvSpPr>
        <p:spPr>
          <a:xfrm>
            <a:off x="812767" y="1879507"/>
            <a:ext cx="3401046" cy="2743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Every report needs</a:t>
            </a:r>
            <a:endParaRPr lang="en-US" sz="1400" dirty="0"/>
          </a:p>
        </p:txBody>
      </p:sp>
      <p:sp>
        <p:nvSpPr>
          <p:cNvPr id="5" name="Text 3"/>
          <p:cNvSpPr/>
          <p:nvPr/>
        </p:nvSpPr>
        <p:spPr>
          <a:xfrm>
            <a:off x="812767" y="2230010"/>
            <a:ext cx="3401046" cy="1892194"/>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A clear title: what fails, where</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Minimal steps to reproduce</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Expected vs actual result</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Environment and build</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Evidence: screenshot, video, logs</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Severity and priority</a:t>
            </a:r>
            <a:endParaRPr lang="en-US" sz="1400" dirty="0"/>
          </a:p>
          <a:p>
            <a:pPr algn="l" marL="213360" indent="-175768">
              <a:lnSpc>
                <a:spcPts val="2100"/>
              </a:lnSpc>
              <a:buSzPct val="100000"/>
              <a:buChar char="•"/>
            </a:pPr>
            <a:r>
              <a:rPr lang="en-US" sz="1400" dirty="0">
                <a:solidFill>
                  <a:srgbClr val="16202E"/>
                </a:solidFill>
                <a:latin typeface="IBM Plex Sans" pitchFamily="34" charset="0"/>
                <a:ea typeface="IBM Plex Sans" pitchFamily="34" charset="-122"/>
                <a:cs typeface="IBM Plex Sans" pitchFamily="34" charset="-120"/>
              </a:rPr>
              <a:t>One defect per report</a:t>
            </a:r>
            <a:endParaRPr lang="en-US" sz="1400" dirty="0"/>
          </a:p>
        </p:txBody>
      </p:sp>
      <p:sp>
        <p:nvSpPr>
          <p:cNvPr id="6" name="Shape 4"/>
          <p:cNvSpPr/>
          <p:nvPr/>
        </p:nvSpPr>
        <p:spPr>
          <a:xfrm>
            <a:off x="4422716" y="1882682"/>
            <a:ext cx="6953328" cy="2999461"/>
          </a:xfrm>
          <a:prstGeom prst="roundRect">
            <a:avLst>
              <a:gd name="adj" fmla="val 3281"/>
            </a:avLst>
          </a:prstGeom>
          <a:solidFill>
            <a:srgbClr val="FBFAF7"/>
          </a:solidFill>
          <a:ln w="6350">
            <a:solidFill>
              <a:srgbClr val="DDD7CA"/>
            </a:solidFill>
            <a:prstDash val="solid"/>
          </a:ln>
        </p:spPr>
      </p:sp>
      <p:sp>
        <p:nvSpPr>
          <p:cNvPr id="7" name="Text 5"/>
          <p:cNvSpPr/>
          <p:nvPr/>
        </p:nvSpPr>
        <p:spPr>
          <a:xfrm>
            <a:off x="4652532" y="2112497"/>
            <a:ext cx="6688506" cy="2743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BUG-112 · Account not locked after 5 failed logins</a:t>
            </a:r>
            <a:endParaRPr lang="en-US" sz="1400" dirty="0"/>
          </a:p>
        </p:txBody>
      </p:sp>
      <p:sp>
        <p:nvSpPr>
          <p:cNvPr id="8" name="Text 6"/>
          <p:cNvSpPr/>
          <p:nvPr/>
        </p:nvSpPr>
        <p:spPr>
          <a:xfrm>
            <a:off x="4652532" y="2450288"/>
            <a:ext cx="1447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Environment</a:t>
            </a:r>
            <a:endParaRPr lang="en-US" sz="1200" dirty="0"/>
          </a:p>
        </p:txBody>
      </p:sp>
      <p:sp>
        <p:nvSpPr>
          <p:cNvPr id="9" name="Text 7"/>
          <p:cNvSpPr/>
          <p:nvPr/>
        </p:nvSpPr>
        <p:spPr>
          <a:xfrm>
            <a:off x="6201895" y="2450288"/>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Staging, build 2.4.1 · Chrome on Windows 11</a:t>
            </a:r>
            <a:endParaRPr lang="en-US" sz="1200" dirty="0"/>
          </a:p>
        </p:txBody>
      </p:sp>
      <p:sp>
        <p:nvSpPr>
          <p:cNvPr id="10" name="Text 8"/>
          <p:cNvSpPr/>
          <p:nvPr/>
        </p:nvSpPr>
        <p:spPr>
          <a:xfrm>
            <a:off x="4652532" y="2752533"/>
            <a:ext cx="1447786" cy="71624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Steps</a:t>
            </a:r>
            <a:endParaRPr lang="en-US" sz="1200" dirty="0"/>
          </a:p>
        </p:txBody>
      </p:sp>
      <p:sp>
        <p:nvSpPr>
          <p:cNvPr id="11" name="Text 9"/>
          <p:cNvSpPr/>
          <p:nvPr/>
        </p:nvSpPr>
        <p:spPr>
          <a:xfrm>
            <a:off x="6201895" y="2752533"/>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1. Open the login page</a:t>
            </a:r>
            <a:endParaRPr lang="en-US" sz="1200" dirty="0"/>
          </a:p>
        </p:txBody>
      </p:sp>
      <p:sp>
        <p:nvSpPr>
          <p:cNvPr id="12" name="Text 10"/>
          <p:cNvSpPr/>
          <p:nvPr/>
        </p:nvSpPr>
        <p:spPr>
          <a:xfrm>
            <a:off x="6201895" y="2991278"/>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2. Log in as user@test.com with a wrong password</a:t>
            </a:r>
            <a:endParaRPr lang="en-US" sz="1200" dirty="0"/>
          </a:p>
        </p:txBody>
      </p:sp>
      <p:sp>
        <p:nvSpPr>
          <p:cNvPr id="13" name="Text 11"/>
          <p:cNvSpPr/>
          <p:nvPr/>
        </p:nvSpPr>
        <p:spPr>
          <a:xfrm>
            <a:off x="6201895" y="3230023"/>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3. Repeat step 2 six times</a:t>
            </a:r>
            <a:endParaRPr lang="en-US" sz="1200" dirty="0"/>
          </a:p>
        </p:txBody>
      </p:sp>
      <p:sp>
        <p:nvSpPr>
          <p:cNvPr id="14" name="Text 12"/>
          <p:cNvSpPr/>
          <p:nvPr/>
        </p:nvSpPr>
        <p:spPr>
          <a:xfrm>
            <a:off x="4652532" y="3532256"/>
            <a:ext cx="1447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Expected</a:t>
            </a:r>
            <a:endParaRPr lang="en-US" sz="1200" dirty="0"/>
          </a:p>
        </p:txBody>
      </p:sp>
      <p:sp>
        <p:nvSpPr>
          <p:cNvPr id="15" name="Text 13"/>
          <p:cNvSpPr/>
          <p:nvPr/>
        </p:nvSpPr>
        <p:spPr>
          <a:xfrm>
            <a:off x="6201895" y="3532256"/>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Account locks after attempt 5 (REQ-02)</a:t>
            </a:r>
            <a:endParaRPr lang="en-US" sz="1200" dirty="0"/>
          </a:p>
        </p:txBody>
      </p:sp>
      <p:sp>
        <p:nvSpPr>
          <p:cNvPr id="16" name="Text 14"/>
          <p:cNvSpPr/>
          <p:nvPr/>
        </p:nvSpPr>
        <p:spPr>
          <a:xfrm>
            <a:off x="4652532" y="3834501"/>
            <a:ext cx="1447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3510"/>
                </a:solidFill>
                <a:latin typeface="JetBrains Mono" pitchFamily="34" charset="0"/>
                <a:ea typeface="JetBrains Mono" pitchFamily="34" charset="-122"/>
                <a:cs typeface="JetBrains Mono" pitchFamily="34" charset="-120"/>
              </a:rPr>
              <a:t>Actual</a:t>
            </a:r>
            <a:endParaRPr lang="en-US" sz="1200" dirty="0"/>
          </a:p>
        </p:txBody>
      </p:sp>
      <p:sp>
        <p:nvSpPr>
          <p:cNvPr id="17" name="Text 15"/>
          <p:cNvSpPr/>
          <p:nvPr/>
        </p:nvSpPr>
        <p:spPr>
          <a:xfrm>
            <a:off x="6201895" y="3834501"/>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Attempt 6 still shows “Invalid password”; the account never locks</a:t>
            </a:r>
            <a:endParaRPr lang="en-US" sz="1200" dirty="0"/>
          </a:p>
        </p:txBody>
      </p:sp>
      <p:sp>
        <p:nvSpPr>
          <p:cNvPr id="18" name="Text 16"/>
          <p:cNvSpPr/>
          <p:nvPr/>
        </p:nvSpPr>
        <p:spPr>
          <a:xfrm>
            <a:off x="4652532" y="4136734"/>
            <a:ext cx="1447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Severity</a:t>
            </a:r>
            <a:endParaRPr lang="en-US" sz="1200" dirty="0"/>
          </a:p>
        </p:txBody>
      </p:sp>
      <p:sp>
        <p:nvSpPr>
          <p:cNvPr id="19" name="Text 17"/>
          <p:cNvSpPr/>
          <p:nvPr/>
        </p:nvSpPr>
        <p:spPr>
          <a:xfrm>
            <a:off x="6201895" y="4136734"/>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High · Priority: High</a:t>
            </a:r>
            <a:endParaRPr lang="en-US" sz="1200" dirty="0"/>
          </a:p>
        </p:txBody>
      </p:sp>
      <p:sp>
        <p:nvSpPr>
          <p:cNvPr id="20" name="Text 18"/>
          <p:cNvSpPr/>
          <p:nvPr/>
        </p:nvSpPr>
        <p:spPr>
          <a:xfrm>
            <a:off x="4652532" y="4438979"/>
            <a:ext cx="144778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Evidence</a:t>
            </a:r>
            <a:endParaRPr lang="en-US" sz="1200" dirty="0"/>
          </a:p>
        </p:txBody>
      </p:sp>
      <p:sp>
        <p:nvSpPr>
          <p:cNvPr id="21" name="Text 19"/>
          <p:cNvSpPr/>
          <p:nvPr/>
        </p:nvSpPr>
        <p:spPr>
          <a:xfrm>
            <a:off x="6201895" y="4438979"/>
            <a:ext cx="509266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Screen recording, server log extract · found by TC-004</a:t>
            </a:r>
            <a:endParaRPr lang="en-US" sz="1200" dirty="0"/>
          </a:p>
        </p:txBody>
      </p:sp>
      <p:sp>
        <p:nvSpPr>
          <p:cNvPr id="22" name="Text 20"/>
          <p:cNvSpPr/>
          <p:nvPr/>
        </p:nvSpPr>
        <p:spPr>
          <a:xfrm>
            <a:off x="812767" y="6238249"/>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23" name="Text 21"/>
          <p:cNvSpPr/>
          <p:nvPr/>
        </p:nvSpPr>
        <p:spPr>
          <a:xfrm>
            <a:off x="10058419" y="6238249"/>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3"/>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DEFECT MANAGEMENT</a:t>
            </a:r>
            <a:endParaRPr lang="en-US" sz="1200" dirty="0"/>
          </a:p>
        </p:txBody>
      </p:sp>
      <p:sp>
        <p:nvSpPr>
          <p:cNvPr id="3" name="Text 1"/>
          <p:cNvSpPr/>
          <p:nvPr/>
        </p:nvSpPr>
        <p:spPr>
          <a:xfrm>
            <a:off x="812767" y="1127720"/>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Severity is impact. Priority is urgency.</a:t>
            </a:r>
            <a:endParaRPr lang="en-US" sz="3200" dirty="0"/>
          </a:p>
        </p:txBody>
      </p:sp>
      <p:sp>
        <p:nvSpPr>
          <p:cNvPr id="4" name="Text 2"/>
          <p:cNvSpPr/>
          <p:nvPr/>
        </p:nvSpPr>
        <p:spPr>
          <a:xfrm>
            <a:off x="812767" y="1879501"/>
            <a:ext cx="3270250"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Severity</a:t>
            </a:r>
            <a:endParaRPr lang="en-US" sz="1800" dirty="0"/>
          </a:p>
        </p:txBody>
      </p:sp>
      <p:sp>
        <p:nvSpPr>
          <p:cNvPr id="5" name="Text 3"/>
          <p:cNvSpPr/>
          <p:nvPr/>
        </p:nvSpPr>
        <p:spPr>
          <a:xfrm>
            <a:off x="812767" y="2204616"/>
            <a:ext cx="3270250" cy="52321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How badly the defect affects the system. Usually set by the tester.</a:t>
            </a:r>
            <a:endParaRPr lang="en-US" sz="1400" dirty="0"/>
          </a:p>
        </p:txBody>
      </p:sp>
      <p:sp>
        <p:nvSpPr>
          <p:cNvPr id="6" name="Text 4"/>
          <p:cNvSpPr/>
          <p:nvPr/>
        </p:nvSpPr>
        <p:spPr>
          <a:xfrm>
            <a:off x="812767" y="2905633"/>
            <a:ext cx="3270250"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Priority</a:t>
            </a:r>
            <a:endParaRPr lang="en-US" sz="1800" dirty="0"/>
          </a:p>
        </p:txBody>
      </p:sp>
      <p:sp>
        <p:nvSpPr>
          <p:cNvPr id="7" name="Text 5"/>
          <p:cNvSpPr/>
          <p:nvPr/>
        </p:nvSpPr>
        <p:spPr>
          <a:xfrm>
            <a:off x="812767" y="3230736"/>
            <a:ext cx="3270250" cy="52321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How soon it must be fixed. Usually set by the product owner or lead.</a:t>
            </a:r>
            <a:endParaRPr lang="en-US" sz="1400" dirty="0"/>
          </a:p>
        </p:txBody>
      </p:sp>
      <p:sp>
        <p:nvSpPr>
          <p:cNvPr id="8" name="Text 6"/>
          <p:cNvSpPr/>
          <p:nvPr/>
        </p:nvSpPr>
        <p:spPr>
          <a:xfrm>
            <a:off x="812767" y="3931754"/>
            <a:ext cx="3270250" cy="52321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The two are independent, so every defect needs both.</a:t>
            </a:r>
            <a:endParaRPr lang="en-US" sz="1400" dirty="0"/>
          </a:p>
        </p:txBody>
      </p:sp>
      <p:sp>
        <p:nvSpPr>
          <p:cNvPr id="9" name="Shape 7"/>
          <p:cNvSpPr/>
          <p:nvPr/>
        </p:nvSpPr>
        <p:spPr>
          <a:xfrm>
            <a:off x="4292554" y="1879501"/>
            <a:ext cx="3479822" cy="1441221"/>
          </a:xfrm>
          <a:prstGeom prst="roundRect">
            <a:avLst>
              <a:gd name="adj" fmla="val 7050"/>
            </a:avLst>
          </a:prstGeom>
          <a:solidFill>
            <a:srgbClr val="F6E1D5"/>
          </a:solidFill>
          <a:ln/>
        </p:spPr>
      </p:sp>
      <p:sp>
        <p:nvSpPr>
          <p:cNvPr id="10" name="Text 8"/>
          <p:cNvSpPr/>
          <p:nvPr/>
        </p:nvSpPr>
        <p:spPr>
          <a:xfrm>
            <a:off x="4470321" y="2057276"/>
            <a:ext cx="3218017"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3510"/>
                </a:solidFill>
                <a:latin typeface="JetBrains Mono" pitchFamily="34" charset="0"/>
                <a:ea typeface="JetBrains Mono" pitchFamily="34" charset="-122"/>
                <a:cs typeface="JetBrains Mono" pitchFamily="34" charset="-120"/>
              </a:rPr>
              <a:t>HIGH SEVERITY · HIGH PRIORITY</a:t>
            </a:r>
            <a:endParaRPr lang="en-US" sz="1200" dirty="0"/>
          </a:p>
        </p:txBody>
      </p:sp>
      <p:sp>
        <p:nvSpPr>
          <p:cNvPr id="11" name="Text 9"/>
          <p:cNvSpPr/>
          <p:nvPr/>
        </p:nvSpPr>
        <p:spPr>
          <a:xfrm>
            <a:off x="4470321" y="2346796"/>
            <a:ext cx="3218017" cy="52321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Checkout crashes when paying by card.</a:t>
            </a:r>
            <a:endParaRPr lang="en-US" sz="1400" dirty="0"/>
          </a:p>
        </p:txBody>
      </p:sp>
      <p:sp>
        <p:nvSpPr>
          <p:cNvPr id="12" name="Text 10"/>
          <p:cNvSpPr/>
          <p:nvPr/>
        </p:nvSpPr>
        <p:spPr>
          <a:xfrm>
            <a:off x="4470321" y="2920789"/>
            <a:ext cx="3218017"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Fix now.</a:t>
            </a:r>
            <a:endParaRPr lang="en-US" sz="1200" dirty="0"/>
          </a:p>
        </p:txBody>
      </p:sp>
      <p:sp>
        <p:nvSpPr>
          <p:cNvPr id="13" name="Shape 11"/>
          <p:cNvSpPr/>
          <p:nvPr/>
        </p:nvSpPr>
        <p:spPr>
          <a:xfrm>
            <a:off x="7902538" y="1882676"/>
            <a:ext cx="3473506" cy="1434871"/>
          </a:xfrm>
          <a:prstGeom prst="roundRect">
            <a:avLst>
              <a:gd name="adj" fmla="val 6860"/>
            </a:avLst>
          </a:prstGeom>
          <a:solidFill>
            <a:srgbClr val="FBFAF7"/>
          </a:solidFill>
          <a:ln w="6350">
            <a:solidFill>
              <a:srgbClr val="DDD7CA"/>
            </a:solidFill>
            <a:prstDash val="solid"/>
          </a:ln>
        </p:spPr>
      </p:sp>
      <p:sp>
        <p:nvSpPr>
          <p:cNvPr id="14" name="Text 12"/>
          <p:cNvSpPr/>
          <p:nvPr/>
        </p:nvSpPr>
        <p:spPr>
          <a:xfrm>
            <a:off x="8081539" y="2061679"/>
            <a:ext cx="320896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HIGH SEVERITY · LOW PRIORITY</a:t>
            </a:r>
            <a:endParaRPr lang="en-US" sz="1200" dirty="0"/>
          </a:p>
        </p:txBody>
      </p:sp>
      <p:sp>
        <p:nvSpPr>
          <p:cNvPr id="15" name="Text 13"/>
          <p:cNvSpPr/>
          <p:nvPr/>
        </p:nvSpPr>
        <p:spPr>
          <a:xfrm>
            <a:off x="8081539" y="2351212"/>
            <a:ext cx="3208968" cy="52321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App crashes in a yearly report used by one admin.</a:t>
            </a:r>
            <a:endParaRPr lang="en-US" sz="1400" dirty="0"/>
          </a:p>
        </p:txBody>
      </p:sp>
      <p:sp>
        <p:nvSpPr>
          <p:cNvPr id="16" name="Text 14"/>
          <p:cNvSpPr/>
          <p:nvPr/>
        </p:nvSpPr>
        <p:spPr>
          <a:xfrm>
            <a:off x="8081539" y="2925192"/>
            <a:ext cx="3208968"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Fix in a later release.</a:t>
            </a:r>
            <a:endParaRPr lang="en-US" sz="1200" dirty="0"/>
          </a:p>
        </p:txBody>
      </p:sp>
      <p:sp>
        <p:nvSpPr>
          <p:cNvPr id="17" name="Shape 15"/>
          <p:cNvSpPr/>
          <p:nvPr/>
        </p:nvSpPr>
        <p:spPr>
          <a:xfrm>
            <a:off x="4292554" y="3447715"/>
            <a:ext cx="3479822" cy="1432402"/>
          </a:xfrm>
          <a:prstGeom prst="roundRect">
            <a:avLst>
              <a:gd name="adj" fmla="val 7093"/>
            </a:avLst>
          </a:prstGeom>
          <a:solidFill>
            <a:srgbClr val="DCE6F3"/>
          </a:solidFill>
          <a:ln/>
        </p:spPr>
      </p:sp>
      <p:sp>
        <p:nvSpPr>
          <p:cNvPr id="18" name="Text 16"/>
          <p:cNvSpPr/>
          <p:nvPr/>
        </p:nvSpPr>
        <p:spPr>
          <a:xfrm>
            <a:off x="4470321" y="3625478"/>
            <a:ext cx="3218017"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A85"/>
                </a:solidFill>
                <a:latin typeface="JetBrains Mono" pitchFamily="34" charset="0"/>
                <a:ea typeface="JetBrains Mono" pitchFamily="34" charset="-122"/>
                <a:cs typeface="JetBrains Mono" pitchFamily="34" charset="-120"/>
              </a:rPr>
              <a:t>LOW SEVERITY · HIGH PRIORITY</a:t>
            </a:r>
            <a:endParaRPr lang="en-US" sz="1200" dirty="0"/>
          </a:p>
        </p:txBody>
      </p:sp>
      <p:sp>
        <p:nvSpPr>
          <p:cNvPr id="19" name="Text 17"/>
          <p:cNvSpPr/>
          <p:nvPr/>
        </p:nvSpPr>
        <p:spPr>
          <a:xfrm>
            <a:off x="4470321" y="3915011"/>
            <a:ext cx="3218017" cy="52321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Company name misspelled on the home page.</a:t>
            </a:r>
            <a:endParaRPr lang="en-US" sz="1400" dirty="0"/>
          </a:p>
        </p:txBody>
      </p:sp>
      <p:sp>
        <p:nvSpPr>
          <p:cNvPr id="20" name="Text 18"/>
          <p:cNvSpPr/>
          <p:nvPr/>
        </p:nvSpPr>
        <p:spPr>
          <a:xfrm>
            <a:off x="4470321" y="4488991"/>
            <a:ext cx="3218017"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Fix before release.</a:t>
            </a:r>
            <a:endParaRPr lang="en-US" sz="1200" dirty="0"/>
          </a:p>
        </p:txBody>
      </p:sp>
      <p:sp>
        <p:nvSpPr>
          <p:cNvPr id="21" name="Shape 19"/>
          <p:cNvSpPr/>
          <p:nvPr/>
        </p:nvSpPr>
        <p:spPr>
          <a:xfrm>
            <a:off x="7902538" y="3450890"/>
            <a:ext cx="3473506" cy="1426052"/>
          </a:xfrm>
          <a:prstGeom prst="roundRect">
            <a:avLst>
              <a:gd name="adj" fmla="val 6902"/>
            </a:avLst>
          </a:prstGeom>
          <a:solidFill>
            <a:srgbClr val="FBFAF7"/>
          </a:solidFill>
          <a:ln w="6350">
            <a:solidFill>
              <a:srgbClr val="DDD7CA"/>
            </a:solidFill>
            <a:prstDash val="solid"/>
          </a:ln>
        </p:spPr>
      </p:sp>
      <p:sp>
        <p:nvSpPr>
          <p:cNvPr id="22" name="Text 20"/>
          <p:cNvSpPr/>
          <p:nvPr/>
        </p:nvSpPr>
        <p:spPr>
          <a:xfrm>
            <a:off x="8081539" y="3629893"/>
            <a:ext cx="3208968"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LOW SEVERITY · LOW PRIORITY</a:t>
            </a:r>
            <a:endParaRPr lang="en-US" sz="1200" dirty="0"/>
          </a:p>
        </p:txBody>
      </p:sp>
      <p:sp>
        <p:nvSpPr>
          <p:cNvPr id="23" name="Text 21"/>
          <p:cNvSpPr/>
          <p:nvPr/>
        </p:nvSpPr>
        <p:spPr>
          <a:xfrm>
            <a:off x="8081539" y="3919413"/>
            <a:ext cx="3208968"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Typo in an old help article.</a:t>
            </a:r>
            <a:endParaRPr lang="en-US" sz="1400" dirty="0"/>
          </a:p>
        </p:txBody>
      </p:sp>
      <p:sp>
        <p:nvSpPr>
          <p:cNvPr id="24" name="Text 22"/>
          <p:cNvSpPr/>
          <p:nvPr/>
        </p:nvSpPr>
        <p:spPr>
          <a:xfrm>
            <a:off x="8081539" y="4244491"/>
            <a:ext cx="3208968" cy="23875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Fix when convenient.</a:t>
            </a:r>
            <a:endParaRPr lang="en-US" sz="1200" dirty="0"/>
          </a:p>
        </p:txBody>
      </p:sp>
      <p:sp>
        <p:nvSpPr>
          <p:cNvPr id="25" name="Text 23"/>
          <p:cNvSpPr/>
          <p:nvPr/>
        </p:nvSpPr>
        <p:spPr>
          <a:xfrm>
            <a:off x="812767" y="623824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26" name="Text 24"/>
          <p:cNvSpPr/>
          <p:nvPr/>
        </p:nvSpPr>
        <p:spPr>
          <a:xfrm>
            <a:off x="10058419" y="6238242"/>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75"/>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PHASE 05 · TEST CLOSURE</a:t>
            </a:r>
            <a:endParaRPr lang="en-US" sz="1200" dirty="0"/>
          </a:p>
        </p:txBody>
      </p:sp>
      <p:sp>
        <p:nvSpPr>
          <p:cNvPr id="3" name="Text 1"/>
          <p:cNvSpPr/>
          <p:nvPr/>
        </p:nvSpPr>
        <p:spPr>
          <a:xfrm>
            <a:off x="812767" y="1127720"/>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Close the loop before the next release</a:t>
            </a:r>
            <a:endParaRPr lang="en-US" sz="3200" dirty="0"/>
          </a:p>
        </p:txBody>
      </p:sp>
      <p:sp>
        <p:nvSpPr>
          <p:cNvPr id="4" name="Text 2"/>
          <p:cNvSpPr/>
          <p:nvPr/>
        </p:nvSpPr>
        <p:spPr>
          <a:xfrm>
            <a:off x="812767" y="1676313"/>
            <a:ext cx="10883445"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Closure turns one test cycle into knowledge for the next.</a:t>
            </a:r>
            <a:endParaRPr lang="en-US" sz="1400" dirty="0"/>
          </a:p>
        </p:txBody>
      </p:sp>
      <p:sp>
        <p:nvSpPr>
          <p:cNvPr id="5" name="Shape 3"/>
          <p:cNvSpPr/>
          <p:nvPr/>
        </p:nvSpPr>
        <p:spPr>
          <a:xfrm>
            <a:off x="815942" y="2233191"/>
            <a:ext cx="3380317" cy="1871813"/>
          </a:xfrm>
          <a:prstGeom prst="roundRect">
            <a:avLst>
              <a:gd name="adj" fmla="val 5258"/>
            </a:avLst>
          </a:prstGeom>
          <a:solidFill>
            <a:srgbClr val="FBFAF7"/>
          </a:solidFill>
          <a:ln w="6350">
            <a:solidFill>
              <a:srgbClr val="DDD7CA"/>
            </a:solidFill>
            <a:prstDash val="solid"/>
          </a:ln>
        </p:spPr>
      </p:sp>
      <p:sp>
        <p:nvSpPr>
          <p:cNvPr id="6" name="Text 4"/>
          <p:cNvSpPr/>
          <p:nvPr/>
        </p:nvSpPr>
        <p:spPr>
          <a:xfrm>
            <a:off x="1045759" y="2463006"/>
            <a:ext cx="3008303"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01</a:t>
            </a:r>
            <a:endParaRPr lang="en-US" sz="1200" dirty="0"/>
          </a:p>
        </p:txBody>
      </p:sp>
      <p:sp>
        <p:nvSpPr>
          <p:cNvPr id="7" name="Text 5"/>
          <p:cNvSpPr/>
          <p:nvPr/>
        </p:nvSpPr>
        <p:spPr>
          <a:xfrm>
            <a:off x="1045759" y="2765239"/>
            <a:ext cx="3008303"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Check exit criteria</a:t>
            </a:r>
            <a:endParaRPr lang="en-US" sz="1800" dirty="0"/>
          </a:p>
        </p:txBody>
      </p:sp>
      <p:sp>
        <p:nvSpPr>
          <p:cNvPr id="8" name="Text 6"/>
          <p:cNvSpPr/>
          <p:nvPr/>
        </p:nvSpPr>
        <p:spPr>
          <a:xfrm>
            <a:off x="1045759" y="3128466"/>
            <a:ext cx="3008303" cy="77212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Planned tests executed, no open critical defects, coverage target met. Then sign-off.</a:t>
            </a:r>
            <a:endParaRPr lang="en-US" sz="1400" dirty="0"/>
          </a:p>
        </p:txBody>
      </p:sp>
      <p:sp>
        <p:nvSpPr>
          <p:cNvPr id="9" name="Shape 7"/>
          <p:cNvSpPr/>
          <p:nvPr/>
        </p:nvSpPr>
        <p:spPr>
          <a:xfrm>
            <a:off x="4405800" y="2233191"/>
            <a:ext cx="3380351" cy="1871813"/>
          </a:xfrm>
          <a:prstGeom prst="roundRect">
            <a:avLst>
              <a:gd name="adj" fmla="val 5258"/>
            </a:avLst>
          </a:prstGeom>
          <a:solidFill>
            <a:srgbClr val="FBFAF7"/>
          </a:solidFill>
          <a:ln w="6350">
            <a:solidFill>
              <a:srgbClr val="DDD7CA"/>
            </a:solidFill>
            <a:prstDash val="solid"/>
          </a:ln>
        </p:spPr>
      </p:sp>
      <p:sp>
        <p:nvSpPr>
          <p:cNvPr id="10" name="Text 8"/>
          <p:cNvSpPr/>
          <p:nvPr/>
        </p:nvSpPr>
        <p:spPr>
          <a:xfrm>
            <a:off x="4635617" y="2463006"/>
            <a:ext cx="3008339"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02</a:t>
            </a:r>
            <a:endParaRPr lang="en-US" sz="1200" dirty="0"/>
          </a:p>
        </p:txBody>
      </p:sp>
      <p:sp>
        <p:nvSpPr>
          <p:cNvPr id="11" name="Text 9"/>
          <p:cNvSpPr/>
          <p:nvPr/>
        </p:nvSpPr>
        <p:spPr>
          <a:xfrm>
            <a:off x="4635617" y="2765239"/>
            <a:ext cx="3008339"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Write the summary report</a:t>
            </a:r>
            <a:endParaRPr lang="en-US" sz="1800" dirty="0"/>
          </a:p>
        </p:txBody>
      </p:sp>
      <p:sp>
        <p:nvSpPr>
          <p:cNvPr id="12" name="Text 10"/>
          <p:cNvSpPr/>
          <p:nvPr/>
        </p:nvSpPr>
        <p:spPr>
          <a:xfrm>
            <a:off x="4635617" y="3128466"/>
            <a:ext cx="3008339" cy="77212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What was tested, results and metrics, open risks, and a go or no-go recommendation.</a:t>
            </a:r>
            <a:endParaRPr lang="en-US" sz="1400" dirty="0"/>
          </a:p>
        </p:txBody>
      </p:sp>
      <p:sp>
        <p:nvSpPr>
          <p:cNvPr id="13" name="Shape 11"/>
          <p:cNvSpPr/>
          <p:nvPr/>
        </p:nvSpPr>
        <p:spPr>
          <a:xfrm>
            <a:off x="7995693" y="2233191"/>
            <a:ext cx="3380351" cy="1871813"/>
          </a:xfrm>
          <a:prstGeom prst="roundRect">
            <a:avLst>
              <a:gd name="adj" fmla="val 5258"/>
            </a:avLst>
          </a:prstGeom>
          <a:solidFill>
            <a:srgbClr val="FBFAF7"/>
          </a:solidFill>
          <a:ln w="6350">
            <a:solidFill>
              <a:srgbClr val="DDD7CA"/>
            </a:solidFill>
            <a:prstDash val="solid"/>
          </a:ln>
        </p:spPr>
      </p:sp>
      <p:sp>
        <p:nvSpPr>
          <p:cNvPr id="14" name="Text 12"/>
          <p:cNvSpPr/>
          <p:nvPr/>
        </p:nvSpPr>
        <p:spPr>
          <a:xfrm>
            <a:off x="8225510" y="2463006"/>
            <a:ext cx="3008339"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03</a:t>
            </a:r>
            <a:endParaRPr lang="en-US" sz="1200" dirty="0"/>
          </a:p>
        </p:txBody>
      </p:sp>
      <p:sp>
        <p:nvSpPr>
          <p:cNvPr id="15" name="Text 13"/>
          <p:cNvSpPr/>
          <p:nvPr/>
        </p:nvSpPr>
        <p:spPr>
          <a:xfrm>
            <a:off x="8225510" y="2765239"/>
            <a:ext cx="3008339"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Learn and archive</a:t>
            </a:r>
            <a:endParaRPr lang="en-US" sz="1800" dirty="0"/>
          </a:p>
        </p:txBody>
      </p:sp>
      <p:sp>
        <p:nvSpPr>
          <p:cNvPr id="16" name="Text 14"/>
          <p:cNvSpPr/>
          <p:nvPr/>
        </p:nvSpPr>
        <p:spPr>
          <a:xfrm>
            <a:off x="8225510" y="3128466"/>
            <a:ext cx="3008339" cy="77212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Hold a retrospective, archive test cases, data and scripts, and grow the regression suite.</a:t>
            </a:r>
            <a:endParaRPr lang="en-US" sz="1400" dirty="0"/>
          </a:p>
        </p:txBody>
      </p:sp>
      <p:sp>
        <p:nvSpPr>
          <p:cNvPr id="17" name="Text 15"/>
          <p:cNvSpPr/>
          <p:nvPr/>
        </p:nvSpPr>
        <p:spPr>
          <a:xfrm>
            <a:off x="812767" y="623824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18" name="Text 16"/>
          <p:cNvSpPr/>
          <p:nvPr/>
        </p:nvSpPr>
        <p:spPr>
          <a:xfrm>
            <a:off x="10058419" y="6238242"/>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CE7DC"/>
        </a:solidFill>
      </p:bgPr>
    </p:bg>
    <p:spTree>
      <p:nvGrpSpPr>
        <p:cNvPr id="1" name=""/>
        <p:cNvGrpSpPr/>
        <p:nvPr/>
      </p:nvGrpSpPr>
      <p:grpSpPr>
        <a:xfrm>
          <a:off x="0" y="0"/>
          <a:ext cx="0" cy="0"/>
          <a:chOff x="0" y="0"/>
          <a:chExt cx="0" cy="0"/>
        </a:xfrm>
      </p:grpSpPr>
      <p:sp>
        <p:nvSpPr>
          <p:cNvPr id="2" name="Text 0"/>
          <p:cNvSpPr/>
          <p:nvPr/>
        </p:nvSpPr>
        <p:spPr>
          <a:xfrm>
            <a:off x="812767" y="812763"/>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E3510"/>
                </a:solidFill>
                <a:latin typeface="JetBrains Mono" pitchFamily="34" charset="0"/>
                <a:ea typeface="JetBrains Mono" pitchFamily="34" charset="-122"/>
                <a:cs typeface="JetBrains Mono" pitchFamily="34" charset="-120"/>
              </a:rPr>
              <a:t>CHALLENGES</a:t>
            </a:r>
            <a:endParaRPr lang="en-US" sz="1200" dirty="0"/>
          </a:p>
        </p:txBody>
      </p:sp>
      <p:sp>
        <p:nvSpPr>
          <p:cNvPr id="3" name="Text 1"/>
          <p:cNvSpPr/>
          <p:nvPr/>
        </p:nvSpPr>
        <p:spPr>
          <a:xfrm>
            <a:off x="812767" y="1127708"/>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Common challenges, and what helps</a:t>
            </a:r>
            <a:endParaRPr lang="en-US" sz="3200" dirty="0"/>
          </a:p>
        </p:txBody>
      </p:sp>
      <p:sp>
        <p:nvSpPr>
          <p:cNvPr id="4" name="Shape 2"/>
          <p:cNvSpPr/>
          <p:nvPr/>
        </p:nvSpPr>
        <p:spPr>
          <a:xfrm>
            <a:off x="812767" y="1879501"/>
            <a:ext cx="3437482" cy="1558182"/>
          </a:xfrm>
          <a:prstGeom prst="roundRect">
            <a:avLst>
              <a:gd name="adj" fmla="val 6520"/>
            </a:avLst>
          </a:prstGeom>
          <a:solidFill>
            <a:srgbClr val="FBFAF7"/>
          </a:solidFill>
          <a:ln/>
        </p:spPr>
      </p:sp>
      <p:sp>
        <p:nvSpPr>
          <p:cNvPr id="5" name="Text 3"/>
          <p:cNvSpPr/>
          <p:nvPr/>
        </p:nvSpPr>
        <p:spPr>
          <a:xfrm>
            <a:off x="990534" y="2057264"/>
            <a:ext cx="3174406"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Unclear or changing requirements</a:t>
            </a:r>
            <a:endParaRPr lang="en-US" sz="1400" dirty="0"/>
          </a:p>
        </p:txBody>
      </p:sp>
      <p:sp>
        <p:nvSpPr>
          <p:cNvPr id="6" name="Text 4"/>
          <p:cNvSpPr/>
          <p:nvPr/>
        </p:nvSpPr>
        <p:spPr>
          <a:xfrm>
            <a:off x="990534" y="2343001"/>
            <a:ext cx="317440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Tests written against yesterday's spec.</a:t>
            </a:r>
            <a:endParaRPr lang="en-US" sz="1200" dirty="0"/>
          </a:p>
        </p:txBody>
      </p:sp>
      <p:sp>
        <p:nvSpPr>
          <p:cNvPr id="7" name="Text 5"/>
          <p:cNvSpPr/>
          <p:nvPr/>
        </p:nvSpPr>
        <p:spPr>
          <a:xfrm>
            <a:off x="990534" y="2619859"/>
            <a:ext cx="3174406" cy="4521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A85"/>
                </a:solidFill>
                <a:latin typeface="IBM Plex Sans" pitchFamily="34" charset="0"/>
                <a:ea typeface="IBM Plex Sans" pitchFamily="34" charset="-122"/>
                <a:cs typeface="IBM Plex Sans" pitchFamily="34" charset="-120"/>
              </a:rPr>
              <a:t>Helps:</a:t>
            </a:r>
            <a:r>
              <a:rPr lang="en-US" sz="1200" dirty="0">
                <a:solidFill>
                  <a:srgbClr val="1F4A85"/>
                </a:solidFill>
                <a:latin typeface="IBM Plex Sans" pitchFamily="34" charset="0"/>
                <a:ea typeface="IBM Plex Sans" pitchFamily="34" charset="-122"/>
                <a:cs typeface="IBM Plex Sans" pitchFamily="34" charset="-120"/>
              </a:rPr>
              <a:t> early reviews, agreed acceptance criteria, a live RTM.</a:t>
            </a:r>
            <a:endParaRPr lang="en-US" sz="1200" dirty="0"/>
          </a:p>
        </p:txBody>
      </p:sp>
      <p:sp>
        <p:nvSpPr>
          <p:cNvPr id="8" name="Shape 6"/>
          <p:cNvSpPr/>
          <p:nvPr/>
        </p:nvSpPr>
        <p:spPr>
          <a:xfrm>
            <a:off x="4377235" y="1879501"/>
            <a:ext cx="3437482" cy="1558182"/>
          </a:xfrm>
          <a:prstGeom prst="roundRect">
            <a:avLst>
              <a:gd name="adj" fmla="val 6520"/>
            </a:avLst>
          </a:prstGeom>
          <a:solidFill>
            <a:srgbClr val="FBFAF7"/>
          </a:solidFill>
          <a:ln/>
        </p:spPr>
      </p:sp>
      <p:sp>
        <p:nvSpPr>
          <p:cNvPr id="9" name="Text 7"/>
          <p:cNvSpPr/>
          <p:nvPr/>
        </p:nvSpPr>
        <p:spPr>
          <a:xfrm>
            <a:off x="4555002" y="2057264"/>
            <a:ext cx="3174406"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Tight deadlines</a:t>
            </a:r>
            <a:endParaRPr lang="en-US" sz="1400" dirty="0"/>
          </a:p>
        </p:txBody>
      </p:sp>
      <p:sp>
        <p:nvSpPr>
          <p:cNvPr id="10" name="Text 8"/>
          <p:cNvSpPr/>
          <p:nvPr/>
        </p:nvSpPr>
        <p:spPr>
          <a:xfrm>
            <a:off x="4555002" y="2343001"/>
            <a:ext cx="3174406"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Testing squeezed into the last days of the sprint.</a:t>
            </a:r>
            <a:endParaRPr lang="en-US" sz="1200" dirty="0"/>
          </a:p>
        </p:txBody>
      </p:sp>
      <p:sp>
        <p:nvSpPr>
          <p:cNvPr id="11" name="Text 9"/>
          <p:cNvSpPr/>
          <p:nvPr/>
        </p:nvSpPr>
        <p:spPr>
          <a:xfrm>
            <a:off x="4555002" y="2833204"/>
            <a:ext cx="3174406" cy="4521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A85"/>
                </a:solidFill>
                <a:latin typeface="IBM Plex Sans" pitchFamily="34" charset="0"/>
                <a:ea typeface="IBM Plex Sans" pitchFamily="34" charset="-122"/>
                <a:cs typeface="IBM Plex Sans" pitchFamily="34" charset="-120"/>
              </a:rPr>
              <a:t>Helps:</a:t>
            </a:r>
            <a:r>
              <a:rPr lang="en-US" sz="1200" dirty="0">
                <a:solidFill>
                  <a:srgbClr val="1F4A85"/>
                </a:solidFill>
                <a:latin typeface="IBM Plex Sans" pitchFamily="34" charset="0"/>
                <a:ea typeface="IBM Plex Sans" pitchFamily="34" charset="-122"/>
                <a:cs typeface="IBM Plex Sans" pitchFamily="34" charset="-120"/>
              </a:rPr>
              <a:t> risk-based prioritisation, testing from day one.</a:t>
            </a:r>
            <a:endParaRPr lang="en-US" sz="1200" dirty="0"/>
          </a:p>
        </p:txBody>
      </p:sp>
      <p:sp>
        <p:nvSpPr>
          <p:cNvPr id="12" name="Shape 10"/>
          <p:cNvSpPr/>
          <p:nvPr/>
        </p:nvSpPr>
        <p:spPr>
          <a:xfrm>
            <a:off x="7941703" y="1879501"/>
            <a:ext cx="3437516" cy="1558182"/>
          </a:xfrm>
          <a:prstGeom prst="roundRect">
            <a:avLst>
              <a:gd name="adj" fmla="val 6520"/>
            </a:avLst>
          </a:prstGeom>
          <a:solidFill>
            <a:srgbClr val="FBFAF7"/>
          </a:solidFill>
          <a:ln/>
        </p:spPr>
      </p:sp>
      <p:sp>
        <p:nvSpPr>
          <p:cNvPr id="13" name="Text 11"/>
          <p:cNvSpPr/>
          <p:nvPr/>
        </p:nvSpPr>
        <p:spPr>
          <a:xfrm>
            <a:off x="8119470" y="2057264"/>
            <a:ext cx="3174442"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Unstable environments and data</a:t>
            </a:r>
            <a:endParaRPr lang="en-US" sz="1400" dirty="0"/>
          </a:p>
        </p:txBody>
      </p:sp>
      <p:sp>
        <p:nvSpPr>
          <p:cNvPr id="14" name="Text 12"/>
          <p:cNvSpPr/>
          <p:nvPr/>
        </p:nvSpPr>
        <p:spPr>
          <a:xfrm>
            <a:off x="8119470" y="2343001"/>
            <a:ext cx="317444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Blocked runs; “works on my machine”.</a:t>
            </a:r>
            <a:endParaRPr lang="en-US" sz="1200" dirty="0"/>
          </a:p>
        </p:txBody>
      </p:sp>
      <p:sp>
        <p:nvSpPr>
          <p:cNvPr id="15" name="Text 13"/>
          <p:cNvSpPr/>
          <p:nvPr/>
        </p:nvSpPr>
        <p:spPr>
          <a:xfrm>
            <a:off x="8119470" y="2619859"/>
            <a:ext cx="3174442" cy="4521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A85"/>
                </a:solidFill>
                <a:latin typeface="IBM Plex Sans" pitchFamily="34" charset="0"/>
                <a:ea typeface="IBM Plex Sans" pitchFamily="34" charset="-122"/>
                <a:cs typeface="IBM Plex Sans" pitchFamily="34" charset="-120"/>
              </a:rPr>
              <a:t>Helps:</a:t>
            </a:r>
            <a:r>
              <a:rPr lang="en-US" sz="1200" dirty="0">
                <a:solidFill>
                  <a:srgbClr val="1F4A85"/>
                </a:solidFill>
                <a:latin typeface="IBM Plex Sans" pitchFamily="34" charset="0"/>
                <a:ea typeface="IBM Plex Sans" pitchFamily="34" charset="-122"/>
                <a:cs typeface="IBM Plex Sans" pitchFamily="34" charset="-120"/>
              </a:rPr>
              <a:t> dedicated environments, scripted setup, managed test data.</a:t>
            </a:r>
            <a:endParaRPr lang="en-US" sz="1200" dirty="0"/>
          </a:p>
        </p:txBody>
      </p:sp>
      <p:sp>
        <p:nvSpPr>
          <p:cNvPr id="16" name="Shape 14"/>
          <p:cNvSpPr/>
          <p:nvPr/>
        </p:nvSpPr>
        <p:spPr>
          <a:xfrm>
            <a:off x="812767" y="3564669"/>
            <a:ext cx="3437482" cy="1344827"/>
          </a:xfrm>
          <a:prstGeom prst="roundRect">
            <a:avLst>
              <a:gd name="adj" fmla="val 7555"/>
            </a:avLst>
          </a:prstGeom>
          <a:solidFill>
            <a:srgbClr val="FBFAF7"/>
          </a:solidFill>
          <a:ln/>
        </p:spPr>
      </p:sp>
      <p:sp>
        <p:nvSpPr>
          <p:cNvPr id="17" name="Text 15"/>
          <p:cNvSpPr/>
          <p:nvPr/>
        </p:nvSpPr>
        <p:spPr>
          <a:xfrm>
            <a:off x="990534" y="3742432"/>
            <a:ext cx="3174406"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A growing regression suite</a:t>
            </a:r>
            <a:endParaRPr lang="en-US" sz="1400" dirty="0"/>
          </a:p>
        </p:txBody>
      </p:sp>
      <p:sp>
        <p:nvSpPr>
          <p:cNvPr id="18" name="Text 16"/>
          <p:cNvSpPr/>
          <p:nvPr/>
        </p:nvSpPr>
        <p:spPr>
          <a:xfrm>
            <a:off x="990534" y="4028170"/>
            <a:ext cx="317440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Every release needs more re-testing.</a:t>
            </a:r>
            <a:endParaRPr lang="en-US" sz="1200" dirty="0"/>
          </a:p>
        </p:txBody>
      </p:sp>
      <p:sp>
        <p:nvSpPr>
          <p:cNvPr id="19" name="Text 17"/>
          <p:cNvSpPr/>
          <p:nvPr/>
        </p:nvSpPr>
        <p:spPr>
          <a:xfrm>
            <a:off x="990534" y="4305015"/>
            <a:ext cx="3174406" cy="4521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A85"/>
                </a:solidFill>
                <a:latin typeface="IBM Plex Sans" pitchFamily="34" charset="0"/>
                <a:ea typeface="IBM Plex Sans" pitchFamily="34" charset="-122"/>
                <a:cs typeface="IBM Plex Sans" pitchFamily="34" charset="-120"/>
              </a:rPr>
              <a:t>Helps:</a:t>
            </a:r>
            <a:r>
              <a:rPr lang="en-US" sz="1200" dirty="0">
                <a:solidFill>
                  <a:srgbClr val="1F4A85"/>
                </a:solidFill>
                <a:latin typeface="IBM Plex Sans" pitchFamily="34" charset="0"/>
                <a:ea typeface="IBM Plex Sans" pitchFamily="34" charset="-122"/>
                <a:cs typeface="IBM Plex Sans" pitchFamily="34" charset="-120"/>
              </a:rPr>
              <a:t> automate stable, high-value paths; prune stale tests.</a:t>
            </a:r>
            <a:endParaRPr lang="en-US" sz="1200" dirty="0"/>
          </a:p>
        </p:txBody>
      </p:sp>
      <p:sp>
        <p:nvSpPr>
          <p:cNvPr id="20" name="Shape 18"/>
          <p:cNvSpPr/>
          <p:nvPr/>
        </p:nvSpPr>
        <p:spPr>
          <a:xfrm>
            <a:off x="4377235" y="3564669"/>
            <a:ext cx="3437482" cy="1344827"/>
          </a:xfrm>
          <a:prstGeom prst="roundRect">
            <a:avLst>
              <a:gd name="adj" fmla="val 7555"/>
            </a:avLst>
          </a:prstGeom>
          <a:solidFill>
            <a:srgbClr val="FBFAF7"/>
          </a:solidFill>
          <a:ln/>
        </p:spPr>
      </p:sp>
      <p:sp>
        <p:nvSpPr>
          <p:cNvPr id="21" name="Text 19"/>
          <p:cNvSpPr/>
          <p:nvPr/>
        </p:nvSpPr>
        <p:spPr>
          <a:xfrm>
            <a:off x="4555002" y="3742432"/>
            <a:ext cx="3174406"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Flaky automated tests</a:t>
            </a:r>
            <a:endParaRPr lang="en-US" sz="1400" dirty="0"/>
          </a:p>
        </p:txBody>
      </p:sp>
      <p:sp>
        <p:nvSpPr>
          <p:cNvPr id="22" name="Text 20"/>
          <p:cNvSpPr/>
          <p:nvPr/>
        </p:nvSpPr>
        <p:spPr>
          <a:xfrm>
            <a:off x="4555002" y="4028170"/>
            <a:ext cx="317440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Random failures erode trust in results.</a:t>
            </a:r>
            <a:endParaRPr lang="en-US" sz="1200" dirty="0"/>
          </a:p>
        </p:txBody>
      </p:sp>
      <p:sp>
        <p:nvSpPr>
          <p:cNvPr id="23" name="Text 21"/>
          <p:cNvSpPr/>
          <p:nvPr/>
        </p:nvSpPr>
        <p:spPr>
          <a:xfrm>
            <a:off x="4555002" y="4305015"/>
            <a:ext cx="3174406" cy="4521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A85"/>
                </a:solidFill>
                <a:latin typeface="IBM Plex Sans" pitchFamily="34" charset="0"/>
                <a:ea typeface="IBM Plex Sans" pitchFamily="34" charset="-122"/>
                <a:cs typeface="IBM Plex Sans" pitchFamily="34" charset="-120"/>
              </a:rPr>
              <a:t>Helps:</a:t>
            </a:r>
            <a:r>
              <a:rPr lang="en-US" sz="1200" dirty="0">
                <a:solidFill>
                  <a:srgbClr val="1F4A85"/>
                </a:solidFill>
                <a:latin typeface="IBM Plex Sans" pitchFamily="34" charset="0"/>
                <a:ea typeface="IBM Plex Sans" pitchFamily="34" charset="-122"/>
                <a:cs typeface="IBM Plex Sans" pitchFamily="34" charset="-120"/>
              </a:rPr>
              <a:t> quarantine, fix the root cause, avoid fixed waits.</a:t>
            </a:r>
            <a:endParaRPr lang="en-US" sz="1200" dirty="0"/>
          </a:p>
        </p:txBody>
      </p:sp>
      <p:sp>
        <p:nvSpPr>
          <p:cNvPr id="24" name="Shape 22"/>
          <p:cNvSpPr/>
          <p:nvPr/>
        </p:nvSpPr>
        <p:spPr>
          <a:xfrm>
            <a:off x="7941703" y="3564669"/>
            <a:ext cx="3437516" cy="1344827"/>
          </a:xfrm>
          <a:prstGeom prst="roundRect">
            <a:avLst>
              <a:gd name="adj" fmla="val 7555"/>
            </a:avLst>
          </a:prstGeom>
          <a:solidFill>
            <a:srgbClr val="FBFAF7"/>
          </a:solidFill>
          <a:ln/>
        </p:spPr>
      </p:sp>
      <p:sp>
        <p:nvSpPr>
          <p:cNvPr id="25" name="Text 23"/>
          <p:cNvSpPr/>
          <p:nvPr/>
        </p:nvSpPr>
        <p:spPr>
          <a:xfrm>
            <a:off x="8119470" y="3742432"/>
            <a:ext cx="3174442" cy="247643"/>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6202E"/>
                </a:solidFill>
                <a:latin typeface="IBM Plex Sans" pitchFamily="34" charset="0"/>
                <a:ea typeface="IBM Plex Sans" pitchFamily="34" charset="-122"/>
                <a:cs typeface="IBM Plex Sans" pitchFamily="34" charset="-120"/>
              </a:rPr>
              <a:t>Dev and test working apart</a:t>
            </a:r>
            <a:endParaRPr lang="en-US" sz="1400" dirty="0"/>
          </a:p>
        </p:txBody>
      </p:sp>
      <p:sp>
        <p:nvSpPr>
          <p:cNvPr id="26" name="Text 24"/>
          <p:cNvSpPr/>
          <p:nvPr/>
        </p:nvSpPr>
        <p:spPr>
          <a:xfrm>
            <a:off x="8119470" y="4028170"/>
            <a:ext cx="3174442"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Defects bounce back as “cannot reproduce”.</a:t>
            </a:r>
            <a:endParaRPr lang="en-US" sz="1200" dirty="0"/>
          </a:p>
        </p:txBody>
      </p:sp>
      <p:sp>
        <p:nvSpPr>
          <p:cNvPr id="27" name="Text 25"/>
          <p:cNvSpPr/>
          <p:nvPr/>
        </p:nvSpPr>
        <p:spPr>
          <a:xfrm>
            <a:off x="8119470" y="4305015"/>
            <a:ext cx="3174442" cy="4521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A85"/>
                </a:solidFill>
                <a:latin typeface="IBM Plex Sans" pitchFamily="34" charset="0"/>
                <a:ea typeface="IBM Plex Sans" pitchFamily="34" charset="-122"/>
                <a:cs typeface="IBM Plex Sans" pitchFamily="34" charset="-120"/>
              </a:rPr>
              <a:t>Helps:</a:t>
            </a:r>
            <a:r>
              <a:rPr lang="en-US" sz="1200" dirty="0">
                <a:solidFill>
                  <a:srgbClr val="1F4A85"/>
                </a:solidFill>
                <a:latin typeface="IBM Plex Sans" pitchFamily="34" charset="0"/>
                <a:ea typeface="IBM Plex Sans" pitchFamily="34" charset="-122"/>
                <a:cs typeface="IBM Plex Sans" pitchFamily="34" charset="-120"/>
              </a:rPr>
              <a:t> three-amigos sessions, clear bug reports, shared tools.</a:t>
            </a:r>
            <a:endParaRPr lang="en-US" sz="1200" dirty="0"/>
          </a:p>
        </p:txBody>
      </p:sp>
      <p:sp>
        <p:nvSpPr>
          <p:cNvPr id="28" name="Text 26"/>
          <p:cNvSpPr/>
          <p:nvPr/>
        </p:nvSpPr>
        <p:spPr>
          <a:xfrm>
            <a:off x="812767" y="6238230"/>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29" name="Text 27"/>
          <p:cNvSpPr/>
          <p:nvPr/>
        </p:nvSpPr>
        <p:spPr>
          <a:xfrm>
            <a:off x="10058419" y="6238230"/>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63"/>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ROLES AND RESPONSIBILITIES</a:t>
            </a:r>
            <a:endParaRPr lang="en-US" sz="1200" dirty="0"/>
          </a:p>
        </p:txBody>
      </p:sp>
      <p:sp>
        <p:nvSpPr>
          <p:cNvPr id="3" name="Text 1"/>
          <p:cNvSpPr/>
          <p:nvPr/>
        </p:nvSpPr>
        <p:spPr>
          <a:xfrm>
            <a:off x="812767" y="1127720"/>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Tester vs QA vs QC</a:t>
            </a:r>
            <a:endParaRPr lang="en-US" sz="3200" dirty="0"/>
          </a:p>
        </p:txBody>
      </p:sp>
      <p:sp>
        <p:nvSpPr>
          <p:cNvPr id="4" name="Shape 2"/>
          <p:cNvSpPr/>
          <p:nvPr/>
        </p:nvSpPr>
        <p:spPr>
          <a:xfrm>
            <a:off x="812767" y="1879501"/>
            <a:ext cx="4571986" cy="3240905"/>
          </a:xfrm>
          <a:prstGeom prst="roundRect">
            <a:avLst>
              <a:gd name="adj" fmla="val 3919"/>
            </a:avLst>
          </a:prstGeom>
          <a:solidFill>
            <a:srgbClr val="ECE7DC"/>
          </a:solidFill>
          <a:ln/>
        </p:spPr>
      </p:sp>
      <p:sp>
        <p:nvSpPr>
          <p:cNvPr id="5" name="Text 3"/>
          <p:cNvSpPr/>
          <p:nvPr/>
        </p:nvSpPr>
        <p:spPr>
          <a:xfrm>
            <a:off x="1015959" y="2082701"/>
            <a:ext cx="4290571"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6202E"/>
                </a:solidFill>
                <a:latin typeface="JetBrains Mono" pitchFamily="34" charset="0"/>
                <a:ea typeface="JetBrains Mono" pitchFamily="34" charset="-122"/>
                <a:cs typeface="JetBrains Mono" pitchFamily="34" charset="-120"/>
              </a:rPr>
              <a:t>QUALITY ASSURANCE</a:t>
            </a:r>
            <a:endParaRPr lang="en-US" sz="1200" dirty="0"/>
          </a:p>
        </p:txBody>
      </p:sp>
      <p:sp>
        <p:nvSpPr>
          <p:cNvPr id="6" name="Text 4"/>
          <p:cNvSpPr/>
          <p:nvPr/>
        </p:nvSpPr>
        <p:spPr>
          <a:xfrm>
            <a:off x="1015959" y="2346833"/>
            <a:ext cx="429057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The process · prevents defects</a:t>
            </a:r>
            <a:endParaRPr lang="en-US" sz="1200" dirty="0"/>
          </a:p>
        </p:txBody>
      </p:sp>
      <p:sp>
        <p:nvSpPr>
          <p:cNvPr id="7" name="Shape 5"/>
          <p:cNvSpPr/>
          <p:nvPr/>
        </p:nvSpPr>
        <p:spPr>
          <a:xfrm>
            <a:off x="1015959" y="2610966"/>
            <a:ext cx="4165603" cy="1818528"/>
          </a:xfrm>
          <a:prstGeom prst="roundRect">
            <a:avLst>
              <a:gd name="adj" fmla="val 5587"/>
            </a:avLst>
          </a:prstGeom>
          <a:solidFill>
            <a:srgbClr val="DCE6F3"/>
          </a:solidFill>
          <a:ln/>
        </p:spPr>
      </p:sp>
      <p:sp>
        <p:nvSpPr>
          <p:cNvPr id="8" name="Text 6"/>
          <p:cNvSpPr/>
          <p:nvPr/>
        </p:nvSpPr>
        <p:spPr>
          <a:xfrm>
            <a:off x="1219150" y="2814154"/>
            <a:ext cx="3871996"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4A85"/>
                </a:solidFill>
                <a:latin typeface="JetBrains Mono" pitchFamily="34" charset="0"/>
                <a:ea typeface="JetBrains Mono" pitchFamily="34" charset="-122"/>
                <a:cs typeface="JetBrains Mono" pitchFamily="34" charset="-120"/>
              </a:rPr>
              <a:t>QUALITY CONTROL</a:t>
            </a:r>
            <a:endParaRPr lang="en-US" sz="1200" dirty="0"/>
          </a:p>
        </p:txBody>
      </p:sp>
      <p:sp>
        <p:nvSpPr>
          <p:cNvPr id="9" name="Text 7"/>
          <p:cNvSpPr/>
          <p:nvPr/>
        </p:nvSpPr>
        <p:spPr>
          <a:xfrm>
            <a:off x="1219150" y="3078299"/>
            <a:ext cx="3871996"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The product · detects defects</a:t>
            </a:r>
            <a:endParaRPr lang="en-US" sz="1200" dirty="0"/>
          </a:p>
        </p:txBody>
      </p:sp>
      <p:sp>
        <p:nvSpPr>
          <p:cNvPr id="10" name="Shape 8"/>
          <p:cNvSpPr/>
          <p:nvPr/>
        </p:nvSpPr>
        <p:spPr>
          <a:xfrm>
            <a:off x="1219150" y="3342432"/>
            <a:ext cx="3759219" cy="883874"/>
          </a:xfrm>
          <a:prstGeom prst="roundRect">
            <a:avLst>
              <a:gd name="adj" fmla="val 8621"/>
            </a:avLst>
          </a:prstGeom>
          <a:solidFill>
            <a:srgbClr val="16202E"/>
          </a:solidFill>
          <a:ln/>
        </p:spPr>
      </p:sp>
      <p:sp>
        <p:nvSpPr>
          <p:cNvPr id="11" name="Text 9"/>
          <p:cNvSpPr/>
          <p:nvPr/>
        </p:nvSpPr>
        <p:spPr>
          <a:xfrm>
            <a:off x="1422342" y="3545619"/>
            <a:ext cx="3453421"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863"/>
                </a:solidFill>
                <a:latin typeface="JetBrains Mono" pitchFamily="34" charset="0"/>
                <a:ea typeface="JetBrains Mono" pitchFamily="34" charset="-122"/>
                <a:cs typeface="JetBrains Mono" pitchFamily="34" charset="-120"/>
              </a:rPr>
              <a:t>TESTING</a:t>
            </a:r>
            <a:endParaRPr lang="en-US" sz="1200" dirty="0"/>
          </a:p>
        </p:txBody>
      </p:sp>
      <p:sp>
        <p:nvSpPr>
          <p:cNvPr id="12" name="Text 10"/>
          <p:cNvSpPr/>
          <p:nvPr/>
        </p:nvSpPr>
        <p:spPr>
          <a:xfrm>
            <a:off x="1422342" y="3809752"/>
            <a:ext cx="3453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C"/>
                </a:solidFill>
                <a:latin typeface="IBM Plex Sans" pitchFamily="34" charset="0"/>
                <a:ea typeface="IBM Plex Sans" pitchFamily="34" charset="-122"/>
                <a:cs typeface="IBM Plex Sans" pitchFamily="34" charset="-120"/>
              </a:rPr>
              <a:t>The activity · runs the checks</a:t>
            </a:r>
            <a:endParaRPr lang="en-US" sz="1200" dirty="0"/>
          </a:p>
        </p:txBody>
      </p:sp>
      <p:sp>
        <p:nvSpPr>
          <p:cNvPr id="13" name="Text 11"/>
          <p:cNvSpPr/>
          <p:nvPr/>
        </p:nvSpPr>
        <p:spPr>
          <a:xfrm>
            <a:off x="5791136" y="1879501"/>
            <a:ext cx="5755725"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QA: quality assurance</a:t>
            </a:r>
            <a:endParaRPr lang="en-US" sz="1800" dirty="0"/>
          </a:p>
        </p:txBody>
      </p:sp>
      <p:sp>
        <p:nvSpPr>
          <p:cNvPr id="14" name="Text 12"/>
          <p:cNvSpPr/>
          <p:nvPr/>
        </p:nvSpPr>
        <p:spPr>
          <a:xfrm>
            <a:off x="5791136" y="2204616"/>
            <a:ext cx="5755725"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Builds quality into how work is done: standards, reviews, audits, training, process improvement.</a:t>
            </a:r>
            <a:endParaRPr lang="en-US" sz="1200" dirty="0"/>
          </a:p>
        </p:txBody>
      </p:sp>
      <p:sp>
        <p:nvSpPr>
          <p:cNvPr id="15" name="Text 13"/>
          <p:cNvSpPr/>
          <p:nvPr/>
        </p:nvSpPr>
        <p:spPr>
          <a:xfrm>
            <a:off x="5791136" y="2682106"/>
            <a:ext cx="5755725" cy="238755"/>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B8481A"/>
                </a:solidFill>
                <a:latin typeface="IBM Plex Sans" pitchFamily="34" charset="0"/>
                <a:ea typeface="IBM Plex Sans" pitchFamily="34" charset="-122"/>
                <a:cs typeface="IBM Plex Sans" pitchFamily="34" charset="-120"/>
              </a:rPr>
              <a:t>“Does our process prevent defects?”</a:t>
            </a:r>
            <a:endParaRPr lang="en-US" sz="1200" dirty="0"/>
          </a:p>
        </p:txBody>
      </p:sp>
      <p:sp>
        <p:nvSpPr>
          <p:cNvPr id="16" name="Text 14"/>
          <p:cNvSpPr/>
          <p:nvPr/>
        </p:nvSpPr>
        <p:spPr>
          <a:xfrm>
            <a:off x="5791136" y="3098651"/>
            <a:ext cx="5755725"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QC: quality control</a:t>
            </a:r>
            <a:endParaRPr lang="en-US" sz="1800" dirty="0"/>
          </a:p>
        </p:txBody>
      </p:sp>
      <p:sp>
        <p:nvSpPr>
          <p:cNvPr id="17" name="Text 15"/>
          <p:cNvSpPr/>
          <p:nvPr/>
        </p:nvSpPr>
        <p:spPr>
          <a:xfrm>
            <a:off x="5791136" y="3423766"/>
            <a:ext cx="5755725"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Checks finished work against the standard: inspections, deliverable reviews, testing.</a:t>
            </a:r>
            <a:endParaRPr lang="en-US" sz="1200" dirty="0"/>
          </a:p>
        </p:txBody>
      </p:sp>
      <p:sp>
        <p:nvSpPr>
          <p:cNvPr id="18" name="Text 16"/>
          <p:cNvSpPr/>
          <p:nvPr/>
        </p:nvSpPr>
        <p:spPr>
          <a:xfrm>
            <a:off x="5791136" y="3901256"/>
            <a:ext cx="5755725" cy="238755"/>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B8481A"/>
                </a:solidFill>
                <a:latin typeface="IBM Plex Sans" pitchFamily="34" charset="0"/>
                <a:ea typeface="IBM Plex Sans" pitchFamily="34" charset="-122"/>
                <a:cs typeface="IBM Plex Sans" pitchFamily="34" charset="-120"/>
              </a:rPr>
              <a:t>“Does this product meet the requirements?”</a:t>
            </a:r>
            <a:endParaRPr lang="en-US" sz="1200" dirty="0"/>
          </a:p>
        </p:txBody>
      </p:sp>
      <p:sp>
        <p:nvSpPr>
          <p:cNvPr id="19" name="Text 17"/>
          <p:cNvSpPr/>
          <p:nvPr/>
        </p:nvSpPr>
        <p:spPr>
          <a:xfrm>
            <a:off x="5791136" y="4317802"/>
            <a:ext cx="5755725"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Space Grotesk" pitchFamily="34" charset="0"/>
                <a:ea typeface="Space Grotesk" pitchFamily="34" charset="-122"/>
                <a:cs typeface="Space Grotesk" pitchFamily="34" charset="-120"/>
              </a:rPr>
              <a:t>Tester</a:t>
            </a:r>
            <a:endParaRPr lang="en-US" sz="1800" dirty="0"/>
          </a:p>
        </p:txBody>
      </p:sp>
      <p:sp>
        <p:nvSpPr>
          <p:cNvPr id="20" name="Text 18"/>
          <p:cNvSpPr/>
          <p:nvPr/>
        </p:nvSpPr>
        <p:spPr>
          <a:xfrm>
            <a:off x="5791136" y="4642917"/>
            <a:ext cx="575572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Carries out the testing part of QC: designs and runs tests, reports defects.</a:t>
            </a:r>
            <a:endParaRPr lang="en-US" sz="1200" dirty="0"/>
          </a:p>
        </p:txBody>
      </p:sp>
      <p:sp>
        <p:nvSpPr>
          <p:cNvPr id="21" name="Text 19"/>
          <p:cNvSpPr/>
          <p:nvPr/>
        </p:nvSpPr>
        <p:spPr>
          <a:xfrm>
            <a:off x="5791136" y="4907049"/>
            <a:ext cx="5755725" cy="238755"/>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B8481A"/>
                </a:solidFill>
                <a:latin typeface="IBM Plex Sans" pitchFamily="34" charset="0"/>
                <a:ea typeface="IBM Plex Sans" pitchFamily="34" charset="-122"/>
                <a:cs typeface="IBM Plex Sans" pitchFamily="34" charset="-120"/>
              </a:rPr>
              <a:t>“Does this feature behave as expected?”</a:t>
            </a:r>
            <a:endParaRPr lang="en-US" sz="1200" dirty="0"/>
          </a:p>
        </p:txBody>
      </p:sp>
      <p:sp>
        <p:nvSpPr>
          <p:cNvPr id="22" name="Text 20"/>
          <p:cNvSpPr/>
          <p:nvPr/>
        </p:nvSpPr>
        <p:spPr>
          <a:xfrm>
            <a:off x="812767" y="623824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23" name="Text 21"/>
          <p:cNvSpPr/>
          <p:nvPr/>
        </p:nvSpPr>
        <p:spPr>
          <a:xfrm>
            <a:off x="10058419" y="6238242"/>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67" y="812775"/>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81A"/>
                </a:solidFill>
                <a:latin typeface="JetBrains Mono" pitchFamily="34" charset="0"/>
                <a:ea typeface="JetBrains Mono" pitchFamily="34" charset="-122"/>
                <a:cs typeface="JetBrains Mono" pitchFamily="34" charset="-120"/>
              </a:rPr>
              <a:t>ROLES AND RESPONSIBILITIES</a:t>
            </a:r>
            <a:endParaRPr lang="en-US" sz="1200" dirty="0"/>
          </a:p>
        </p:txBody>
      </p:sp>
      <p:sp>
        <p:nvSpPr>
          <p:cNvPr id="3" name="Text 1"/>
          <p:cNvSpPr/>
          <p:nvPr/>
        </p:nvSpPr>
        <p:spPr>
          <a:xfrm>
            <a:off x="812767" y="1127720"/>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QA, QC and testing side by side</a:t>
            </a:r>
            <a:endParaRPr lang="en-US" sz="3200" dirty="0"/>
          </a:p>
        </p:txBody>
      </p:sp>
      <p:sp>
        <p:nvSpPr>
          <p:cNvPr id="4" name="Shape 2"/>
          <p:cNvSpPr/>
          <p:nvPr/>
        </p:nvSpPr>
        <p:spPr>
          <a:xfrm>
            <a:off x="812767" y="1828688"/>
            <a:ext cx="10566452" cy="2546063"/>
          </a:xfrm>
          <a:prstGeom prst="rect">
            <a:avLst/>
          </a:prstGeom>
          <a:solidFill>
            <a:srgbClr val="FBFAF7"/>
          </a:solidFill>
          <a:ln/>
        </p:spPr>
      </p:sp>
      <p:sp>
        <p:nvSpPr>
          <p:cNvPr id="5" name="Shape 3"/>
          <p:cNvSpPr/>
          <p:nvPr/>
        </p:nvSpPr>
        <p:spPr>
          <a:xfrm>
            <a:off x="11376044" y="1828688"/>
            <a:ext cx="0" cy="2546063"/>
          </a:xfrm>
          <a:prstGeom prst="line">
            <a:avLst/>
          </a:prstGeom>
          <a:noFill/>
          <a:ln w="6350">
            <a:solidFill>
              <a:srgbClr val="DDD7CA"/>
            </a:solidFill>
            <a:prstDash val="solid"/>
          </a:ln>
        </p:spPr>
      </p:sp>
      <p:sp>
        <p:nvSpPr>
          <p:cNvPr id="6" name="Shape 4"/>
          <p:cNvSpPr/>
          <p:nvPr/>
        </p:nvSpPr>
        <p:spPr>
          <a:xfrm>
            <a:off x="812767" y="4371577"/>
            <a:ext cx="10566452" cy="0"/>
          </a:xfrm>
          <a:prstGeom prst="line">
            <a:avLst/>
          </a:prstGeom>
          <a:noFill/>
          <a:ln w="6350">
            <a:solidFill>
              <a:srgbClr val="DDD7CA"/>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791" y="1839713"/>
          <a:ext cx="10551018" cy="2530629"/>
        </p:xfrm>
        <a:graphic>
          <a:graphicData uri="http://schemas.openxmlformats.org/drawingml/2006/table">
            <a:tbl>
              <a:tblPr/>
              <a:tblGrid>
                <a:gridCol w="1582653"/>
                <a:gridCol w="2954285"/>
                <a:gridCol w="2954285"/>
                <a:gridCol w="3059795"/>
              </a:tblGrid>
              <a:tr h="331039">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Aspect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Quality assurance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Quality control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Testing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r>
              <a:tr h="331039">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Focus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The process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The product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The product's behaviour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1039">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Nature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Preventive, proactive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Detective, reactive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Detective, reactive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r>
              <a:tr h="331039">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Throughout the lifecycle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After a deliverable is produced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During test execution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331039">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Goal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Stop defects being introduced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Find defects before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Find failures, confirm fixes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r>
              <a:tr h="331039">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Owned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Whole team, led by QA or process leads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QC team, reviewers, testers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Testers (developers for unit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A"/>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544394">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Examples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5"/>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Standards, audits, training, retrospectives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Inspections, walkthroughs, testing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Test cases, test runs, bug reports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0BA"/>
                      </a:solidFill>
                      <a:prstDash val="solid"/>
                      <a:round/>
                      <a:headEnd type="none" w="med" len="med"/>
                      <a:tailEnd type="none" w="med" len="med"/>
                    </a:lnL>
                    <a:lnR w="12700" cap="flat" cmpd="sng" algn="ctr">
                      <a:solidFill>
                        <a:srgbClr val="C2C0BA"/>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A"/>
                      </a:solidFill>
                      <a:prstDash val="solid"/>
                      <a:round/>
                      <a:headEnd type="none" w="med" len="med"/>
                      <a:tailEnd type="none" w="med" len="med"/>
                    </a:lnB>
                    <a:solidFill>
                      <a:srgbClr val="F3F0E9"/>
                    </a:solidFill>
                  </a:tcPr>
                </a:tc>
              </a:tr>
            </a:tbl>
          </a:graphicData>
        </a:graphic>
      </p:graphicFrame>
      <p:sp>
        <p:nvSpPr>
          <p:cNvPr id="8" name="Text 5"/>
          <p:cNvSpPr/>
          <p:nvPr/>
        </p:nvSpPr>
        <p:spPr>
          <a:xfrm>
            <a:off x="812767" y="4628728"/>
            <a:ext cx="1088344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In job titles the lines blur: a “QA engineer” often does all three. What matters is the focus: the process or the product.</a:t>
            </a:r>
            <a:endParaRPr lang="en-US" sz="1200" dirty="0"/>
          </a:p>
        </p:txBody>
      </p:sp>
      <p:sp>
        <p:nvSpPr>
          <p:cNvPr id="9" name="Text 6"/>
          <p:cNvSpPr/>
          <p:nvPr/>
        </p:nvSpPr>
        <p:spPr>
          <a:xfrm>
            <a:off x="812767" y="6238242"/>
            <a:ext cx="588645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1"/>
                </a:solidFill>
                <a:latin typeface="IBM Plex Sans" pitchFamily="34" charset="0"/>
                <a:ea typeface="IBM Plex Sans" pitchFamily="34" charset="-122"/>
                <a:cs typeface="IBM Plex Sans" pitchFamily="34" charset="-120"/>
              </a:rPr>
              <a:t>Software Testing Process Workshop</a:t>
            </a:r>
            <a:endParaRPr lang="en-US" sz="1200" dirty="0"/>
          </a:p>
        </p:txBody>
      </p:sp>
      <p:sp>
        <p:nvSpPr>
          <p:cNvPr id="10" name="Text 7"/>
          <p:cNvSpPr/>
          <p:nvPr/>
        </p:nvSpPr>
        <p:spPr>
          <a:xfrm>
            <a:off x="10058419" y="6238242"/>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1"/>
                </a:solidFill>
                <a:latin typeface="JetBrains Mono" pitchFamily="34" charset="0"/>
                <a:ea typeface="JetBrains Mono" pitchFamily="34" charset="-122"/>
                <a:cs typeface="JetBrains Mono"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CE7DC"/>
        </a:solidFill>
      </p:bgPr>
    </p:bg>
    <p:spTree>
      <p:nvGrpSpPr>
        <p:cNvPr id="1" name=""/>
        <p:cNvGrpSpPr/>
        <p:nvPr/>
      </p:nvGrpSpPr>
      <p:grpSpPr>
        <a:xfrm>
          <a:off x="0" y="0"/>
          <a:ext cx="0" cy="0"/>
          <a:chOff x="0" y="0"/>
          <a:chExt cx="0" cy="0"/>
        </a:xfrm>
      </p:grpSpPr>
      <p:sp>
        <p:nvSpPr>
          <p:cNvPr id="2" name="Text 0"/>
          <p:cNvSpPr/>
          <p:nvPr/>
        </p:nvSpPr>
        <p:spPr>
          <a:xfrm>
            <a:off x="812767" y="812763"/>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E3510"/>
                </a:solidFill>
                <a:latin typeface="JetBrains Mono" pitchFamily="34" charset="0"/>
                <a:ea typeface="JetBrains Mono" pitchFamily="34" charset="-122"/>
                <a:cs typeface="JetBrains Mono" pitchFamily="34" charset="-120"/>
              </a:rPr>
              <a:t>HANDS-ON EXERCISE</a:t>
            </a:r>
            <a:endParaRPr lang="en-US" sz="1200" dirty="0"/>
          </a:p>
        </p:txBody>
      </p:sp>
      <p:sp>
        <p:nvSpPr>
          <p:cNvPr id="3" name="Text 1"/>
          <p:cNvSpPr/>
          <p:nvPr/>
        </p:nvSpPr>
        <p:spPr>
          <a:xfrm>
            <a:off x="812767" y="1127708"/>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6202E"/>
                </a:solidFill>
                <a:latin typeface="Space Grotesk" pitchFamily="34" charset="0"/>
                <a:ea typeface="Space Grotesk" pitchFamily="34" charset="-122"/>
                <a:cs typeface="Space Grotesk" pitchFamily="34" charset="-120"/>
              </a:rPr>
              <a:t>Your turn: test a login page</a:t>
            </a:r>
            <a:endParaRPr lang="en-US" sz="3200" dirty="0"/>
          </a:p>
        </p:txBody>
      </p:sp>
      <p:sp>
        <p:nvSpPr>
          <p:cNvPr id="4" name="Shape 2"/>
          <p:cNvSpPr/>
          <p:nvPr/>
        </p:nvSpPr>
        <p:spPr>
          <a:xfrm>
            <a:off x="812767" y="1828688"/>
            <a:ext cx="10566452" cy="1313133"/>
          </a:xfrm>
          <a:prstGeom prst="roundRect">
            <a:avLst>
              <a:gd name="adj" fmla="val 7737"/>
            </a:avLst>
          </a:prstGeom>
          <a:solidFill>
            <a:srgbClr val="16202E"/>
          </a:solidFill>
          <a:ln/>
        </p:spPr>
      </p:sp>
      <p:sp>
        <p:nvSpPr>
          <p:cNvPr id="5" name="Text 3"/>
          <p:cNvSpPr/>
          <p:nvPr/>
        </p:nvSpPr>
        <p:spPr>
          <a:xfrm>
            <a:off x="1066739" y="2031876"/>
            <a:ext cx="10360262"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863"/>
                </a:solidFill>
                <a:latin typeface="JetBrains Mono" pitchFamily="34" charset="0"/>
                <a:ea typeface="JetBrains Mono" pitchFamily="34" charset="-122"/>
                <a:cs typeface="JetBrains Mono" pitchFamily="34" charset="-120"/>
              </a:rPr>
              <a:t>THE REQUIREMENT</a:t>
            </a:r>
            <a:endParaRPr lang="en-US" sz="1200" dirty="0"/>
          </a:p>
        </p:txBody>
      </p:sp>
      <p:sp>
        <p:nvSpPr>
          <p:cNvPr id="6" name="Text 4"/>
          <p:cNvSpPr/>
          <p:nvPr/>
        </p:nvSpPr>
        <p:spPr>
          <a:xfrm>
            <a:off x="1066739" y="2321409"/>
            <a:ext cx="10360262" cy="642623"/>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6F4EF"/>
                </a:solidFill>
                <a:latin typeface="IBM Plex Sans" pitchFamily="34" charset="0"/>
                <a:ea typeface="IBM Plex Sans" pitchFamily="34" charset="-122"/>
                <a:cs typeface="IBM Plex Sans" pitchFamily="34" charset="-120"/>
              </a:rPr>
              <a:t>Users log in with email and password. Passwords are 8 to 20 characters. After 5 failed attempts, the account locks for 15 minutes.</a:t>
            </a:r>
            <a:endParaRPr lang="en-US" sz="1800" dirty="0"/>
          </a:p>
        </p:txBody>
      </p:sp>
      <p:sp>
        <p:nvSpPr>
          <p:cNvPr id="7" name="Shape 5"/>
          <p:cNvSpPr/>
          <p:nvPr/>
        </p:nvSpPr>
        <p:spPr>
          <a:xfrm>
            <a:off x="812767" y="3395787"/>
            <a:ext cx="2546373" cy="1523869"/>
          </a:xfrm>
          <a:prstGeom prst="roundRect">
            <a:avLst>
              <a:gd name="adj" fmla="val 6667"/>
            </a:avLst>
          </a:prstGeom>
          <a:solidFill>
            <a:srgbClr val="FBFAF7"/>
          </a:solidFill>
          <a:ln/>
        </p:spPr>
      </p:sp>
      <p:sp>
        <p:nvSpPr>
          <p:cNvPr id="8" name="Text 6"/>
          <p:cNvSpPr/>
          <p:nvPr/>
        </p:nvSpPr>
        <p:spPr>
          <a:xfrm>
            <a:off x="990534" y="3573562"/>
            <a:ext cx="225656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01</a:t>
            </a:r>
            <a:endParaRPr lang="en-US" sz="1200" dirty="0"/>
          </a:p>
        </p:txBody>
      </p:sp>
      <p:sp>
        <p:nvSpPr>
          <p:cNvPr id="9" name="Text 7"/>
          <p:cNvSpPr/>
          <p:nvPr/>
        </p:nvSpPr>
        <p:spPr>
          <a:xfrm>
            <a:off x="990534" y="3837694"/>
            <a:ext cx="2256565"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Question it</a:t>
            </a:r>
            <a:endParaRPr lang="en-US" sz="1400" dirty="0"/>
          </a:p>
        </p:txBody>
      </p:sp>
      <p:sp>
        <p:nvSpPr>
          <p:cNvPr id="10" name="Text 8"/>
          <p:cNvSpPr/>
          <p:nvPr/>
        </p:nvSpPr>
        <p:spPr>
          <a:xfrm>
            <a:off x="990534" y="4101827"/>
            <a:ext cx="2256565"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List three questions for the product owner.</a:t>
            </a:r>
            <a:endParaRPr lang="en-US" sz="1200" dirty="0"/>
          </a:p>
        </p:txBody>
      </p:sp>
      <p:sp>
        <p:nvSpPr>
          <p:cNvPr id="11" name="Shape 9"/>
          <p:cNvSpPr/>
          <p:nvPr/>
        </p:nvSpPr>
        <p:spPr>
          <a:xfrm>
            <a:off x="3486126" y="3395787"/>
            <a:ext cx="2546373" cy="1523869"/>
          </a:xfrm>
          <a:prstGeom prst="roundRect">
            <a:avLst>
              <a:gd name="adj" fmla="val 6667"/>
            </a:avLst>
          </a:prstGeom>
          <a:solidFill>
            <a:srgbClr val="FBFAF7"/>
          </a:solidFill>
          <a:ln/>
        </p:spPr>
      </p:sp>
      <p:sp>
        <p:nvSpPr>
          <p:cNvPr id="12" name="Text 10"/>
          <p:cNvSpPr/>
          <p:nvPr/>
        </p:nvSpPr>
        <p:spPr>
          <a:xfrm>
            <a:off x="3663893" y="3573562"/>
            <a:ext cx="225656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02</a:t>
            </a:r>
            <a:endParaRPr lang="en-US" sz="1200" dirty="0"/>
          </a:p>
        </p:txBody>
      </p:sp>
      <p:sp>
        <p:nvSpPr>
          <p:cNvPr id="13" name="Text 11"/>
          <p:cNvSpPr/>
          <p:nvPr/>
        </p:nvSpPr>
        <p:spPr>
          <a:xfrm>
            <a:off x="3663893" y="3837694"/>
            <a:ext cx="2256565"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Partition it</a:t>
            </a:r>
            <a:endParaRPr lang="en-US" sz="1400" dirty="0"/>
          </a:p>
        </p:txBody>
      </p:sp>
      <p:sp>
        <p:nvSpPr>
          <p:cNvPr id="14" name="Text 12"/>
          <p:cNvSpPr/>
          <p:nvPr/>
        </p:nvSpPr>
        <p:spPr>
          <a:xfrm>
            <a:off x="3663893" y="4101827"/>
            <a:ext cx="2256565" cy="66546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Find the partitions and boundaries for password length.</a:t>
            </a:r>
            <a:endParaRPr lang="en-US" sz="1200" dirty="0"/>
          </a:p>
        </p:txBody>
      </p:sp>
      <p:sp>
        <p:nvSpPr>
          <p:cNvPr id="15" name="Shape 13"/>
          <p:cNvSpPr/>
          <p:nvPr/>
        </p:nvSpPr>
        <p:spPr>
          <a:xfrm>
            <a:off x="6159486" y="3395787"/>
            <a:ext cx="2546373" cy="1523869"/>
          </a:xfrm>
          <a:prstGeom prst="roundRect">
            <a:avLst>
              <a:gd name="adj" fmla="val 6667"/>
            </a:avLst>
          </a:prstGeom>
          <a:solidFill>
            <a:srgbClr val="FBFAF7"/>
          </a:solidFill>
          <a:ln/>
        </p:spPr>
      </p:sp>
      <p:sp>
        <p:nvSpPr>
          <p:cNvPr id="16" name="Text 14"/>
          <p:cNvSpPr/>
          <p:nvPr/>
        </p:nvSpPr>
        <p:spPr>
          <a:xfrm>
            <a:off x="6337253" y="3573562"/>
            <a:ext cx="225656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03</a:t>
            </a:r>
            <a:endParaRPr lang="en-US" sz="1200" dirty="0"/>
          </a:p>
        </p:txBody>
      </p:sp>
      <p:sp>
        <p:nvSpPr>
          <p:cNvPr id="17" name="Text 15"/>
          <p:cNvSpPr/>
          <p:nvPr/>
        </p:nvSpPr>
        <p:spPr>
          <a:xfrm>
            <a:off x="6337253" y="3837694"/>
            <a:ext cx="2256565"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Write it</a:t>
            </a:r>
            <a:endParaRPr lang="en-US" sz="1400" dirty="0"/>
          </a:p>
        </p:txBody>
      </p:sp>
      <p:sp>
        <p:nvSpPr>
          <p:cNvPr id="18" name="Text 16"/>
          <p:cNvSpPr/>
          <p:nvPr/>
        </p:nvSpPr>
        <p:spPr>
          <a:xfrm>
            <a:off x="6337253" y="4101827"/>
            <a:ext cx="2256565"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Two test cases with steps and expected results.</a:t>
            </a:r>
            <a:endParaRPr lang="en-US" sz="1200" dirty="0"/>
          </a:p>
        </p:txBody>
      </p:sp>
      <p:sp>
        <p:nvSpPr>
          <p:cNvPr id="19" name="Shape 17"/>
          <p:cNvSpPr/>
          <p:nvPr/>
        </p:nvSpPr>
        <p:spPr>
          <a:xfrm>
            <a:off x="8832845" y="3395787"/>
            <a:ext cx="2546373" cy="1523869"/>
          </a:xfrm>
          <a:prstGeom prst="roundRect">
            <a:avLst>
              <a:gd name="adj" fmla="val 6667"/>
            </a:avLst>
          </a:prstGeom>
          <a:solidFill>
            <a:srgbClr val="FBFAF7"/>
          </a:solidFill>
          <a:ln/>
        </p:spPr>
      </p:sp>
      <p:sp>
        <p:nvSpPr>
          <p:cNvPr id="20" name="Text 18"/>
          <p:cNvSpPr/>
          <p:nvPr/>
        </p:nvSpPr>
        <p:spPr>
          <a:xfrm>
            <a:off x="9010613" y="3573562"/>
            <a:ext cx="225656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81A"/>
                </a:solidFill>
                <a:latin typeface="JetBrains Mono" pitchFamily="34" charset="0"/>
                <a:ea typeface="JetBrains Mono" pitchFamily="34" charset="-122"/>
                <a:cs typeface="JetBrains Mono" pitchFamily="34" charset="-120"/>
              </a:rPr>
              <a:t>04</a:t>
            </a:r>
            <a:endParaRPr lang="en-US" sz="1200" dirty="0"/>
          </a:p>
        </p:txBody>
      </p:sp>
      <p:sp>
        <p:nvSpPr>
          <p:cNvPr id="21" name="Text 19"/>
          <p:cNvSpPr/>
          <p:nvPr/>
        </p:nvSpPr>
        <p:spPr>
          <a:xfrm>
            <a:off x="9010613" y="3837694"/>
            <a:ext cx="2256565"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02E"/>
                </a:solidFill>
                <a:latin typeface="IBM Plex Sans" pitchFamily="34" charset="0"/>
                <a:ea typeface="IBM Plex Sans" pitchFamily="34" charset="-122"/>
                <a:cs typeface="IBM Plex Sans" pitchFamily="34" charset="-120"/>
              </a:rPr>
              <a:t>Report it</a:t>
            </a:r>
            <a:endParaRPr lang="en-US" sz="1400" dirty="0"/>
          </a:p>
        </p:txBody>
      </p:sp>
      <p:sp>
        <p:nvSpPr>
          <p:cNvPr id="22" name="Text 20"/>
          <p:cNvSpPr/>
          <p:nvPr/>
        </p:nvSpPr>
        <p:spPr>
          <a:xfrm>
            <a:off x="9010613" y="4101827"/>
            <a:ext cx="2256565"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A bug report for: “Login button does nothing on Safari”.</a:t>
            </a:r>
            <a:endParaRPr lang="en-US" sz="1200" dirty="0"/>
          </a:p>
        </p:txBody>
      </p:sp>
      <p:sp>
        <p:nvSpPr>
          <p:cNvPr id="23" name="Text 21"/>
          <p:cNvSpPr/>
          <p:nvPr/>
        </p:nvSpPr>
        <p:spPr>
          <a:xfrm>
            <a:off x="812767" y="6238230"/>
            <a:ext cx="784860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Groups of three · [__] minutes · then each group shares one answer</a:t>
            </a:r>
            <a:endParaRPr lang="en-US" sz="1200" dirty="0"/>
          </a:p>
        </p:txBody>
      </p:sp>
      <p:sp>
        <p:nvSpPr>
          <p:cNvPr id="24" name="Text 22"/>
          <p:cNvSpPr/>
          <p:nvPr/>
        </p:nvSpPr>
        <p:spPr>
          <a:xfrm>
            <a:off x="10058419" y="6238230"/>
            <a:ext cx="13208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260"/>
                </a:solidFill>
                <a:latin typeface="JetBrains Mono" pitchFamily="34" charset="0"/>
                <a:ea typeface="JetBrains Mono" pitchFamily="34" charset="-122"/>
                <a:cs typeface="JetBrains Mono"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767" y="812763"/>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863"/>
                </a:solidFill>
                <a:latin typeface="JetBrains Mono" pitchFamily="34" charset="0"/>
                <a:ea typeface="JetBrains Mono" pitchFamily="34" charset="-122"/>
                <a:cs typeface="JetBrains Mono" pitchFamily="34" charset="-120"/>
              </a:rPr>
              <a:t>WRAP-UP</a:t>
            </a:r>
            <a:endParaRPr lang="en-US" sz="1200" dirty="0"/>
          </a:p>
        </p:txBody>
      </p:sp>
      <p:sp>
        <p:nvSpPr>
          <p:cNvPr id="3" name="Text 1"/>
          <p:cNvSpPr/>
          <p:nvPr/>
        </p:nvSpPr>
        <p:spPr>
          <a:xfrm>
            <a:off x="812767" y="1127720"/>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6F4EF"/>
                </a:solidFill>
                <a:latin typeface="Space Grotesk" pitchFamily="34" charset="0"/>
                <a:ea typeface="Space Grotesk" pitchFamily="34" charset="-122"/>
                <a:cs typeface="Space Grotesk" pitchFamily="34" charset="-120"/>
              </a:rPr>
              <a:t>Five things to take back to your team</a:t>
            </a:r>
            <a:endParaRPr lang="en-US" sz="3200" dirty="0"/>
          </a:p>
        </p:txBody>
      </p:sp>
      <p:sp>
        <p:nvSpPr>
          <p:cNvPr id="4" name="Text 2"/>
          <p:cNvSpPr/>
          <p:nvPr/>
        </p:nvSpPr>
        <p:spPr>
          <a:xfrm>
            <a:off x="812767" y="1974379"/>
            <a:ext cx="457183"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9863"/>
                </a:solidFill>
                <a:latin typeface="JetBrains Mono" pitchFamily="34" charset="0"/>
                <a:ea typeface="JetBrains Mono" pitchFamily="34" charset="-122"/>
                <a:cs typeface="JetBrains Mono" pitchFamily="34" charset="-120"/>
              </a:rPr>
              <a:t>01</a:t>
            </a:r>
            <a:endParaRPr lang="en-US" sz="1400" dirty="0"/>
          </a:p>
        </p:txBody>
      </p:sp>
      <p:sp>
        <p:nvSpPr>
          <p:cNvPr id="5" name="Text 3"/>
          <p:cNvSpPr/>
          <p:nvPr/>
        </p:nvSpPr>
        <p:spPr>
          <a:xfrm>
            <a:off x="1422342" y="1930288"/>
            <a:ext cx="10255583" cy="32257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6F4EF"/>
                </a:solidFill>
                <a:latin typeface="IBM Plex Sans" pitchFamily="34" charset="0"/>
                <a:ea typeface="IBM Plex Sans" pitchFamily="34" charset="-122"/>
                <a:cs typeface="IBM Plex Sans" pitchFamily="34" charset="-120"/>
              </a:rPr>
              <a:t>Testing is a lifecycle, not a phase at the end.</a:t>
            </a:r>
            <a:endParaRPr lang="en-US" sz="1800" dirty="0"/>
          </a:p>
        </p:txBody>
      </p:sp>
      <p:sp>
        <p:nvSpPr>
          <p:cNvPr id="6" name="Text 4"/>
          <p:cNvSpPr/>
          <p:nvPr/>
        </p:nvSpPr>
        <p:spPr>
          <a:xfrm>
            <a:off x="812767" y="2449326"/>
            <a:ext cx="457183"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9863"/>
                </a:solidFill>
                <a:latin typeface="JetBrains Mono" pitchFamily="34" charset="0"/>
                <a:ea typeface="JetBrains Mono" pitchFamily="34" charset="-122"/>
                <a:cs typeface="JetBrains Mono" pitchFamily="34" charset="-120"/>
              </a:rPr>
              <a:t>02</a:t>
            </a:r>
            <a:endParaRPr lang="en-US" sz="1400" dirty="0"/>
          </a:p>
        </p:txBody>
      </p:sp>
      <p:sp>
        <p:nvSpPr>
          <p:cNvPr id="7" name="Text 5"/>
          <p:cNvSpPr/>
          <p:nvPr/>
        </p:nvSpPr>
        <p:spPr>
          <a:xfrm>
            <a:off x="1422342" y="2405224"/>
            <a:ext cx="10255583" cy="32257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6F4EF"/>
                </a:solidFill>
                <a:latin typeface="IBM Plex Sans" pitchFamily="34" charset="0"/>
                <a:ea typeface="IBM Plex Sans" pitchFamily="34" charset="-122"/>
                <a:cs typeface="IBM Plex Sans" pitchFamily="34" charset="-120"/>
              </a:rPr>
              <a:t>Testable requirements and a clear plan prevent most surprises.</a:t>
            </a:r>
            <a:endParaRPr lang="en-US" sz="1800" dirty="0"/>
          </a:p>
        </p:txBody>
      </p:sp>
      <p:sp>
        <p:nvSpPr>
          <p:cNvPr id="8" name="Text 6"/>
          <p:cNvSpPr/>
          <p:nvPr/>
        </p:nvSpPr>
        <p:spPr>
          <a:xfrm>
            <a:off x="812767" y="2924262"/>
            <a:ext cx="457183"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9863"/>
                </a:solidFill>
                <a:latin typeface="JetBrains Mono" pitchFamily="34" charset="0"/>
                <a:ea typeface="JetBrains Mono" pitchFamily="34" charset="-122"/>
                <a:cs typeface="JetBrains Mono" pitchFamily="34" charset="-120"/>
              </a:rPr>
              <a:t>03</a:t>
            </a:r>
            <a:endParaRPr lang="en-US" sz="1400" dirty="0"/>
          </a:p>
        </p:txBody>
      </p:sp>
      <p:sp>
        <p:nvSpPr>
          <p:cNvPr id="9" name="Text 7"/>
          <p:cNvSpPr/>
          <p:nvPr/>
        </p:nvSpPr>
        <p:spPr>
          <a:xfrm>
            <a:off x="1422342" y="2880171"/>
            <a:ext cx="10255583" cy="32257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6F4EF"/>
                </a:solidFill>
                <a:latin typeface="IBM Plex Sans" pitchFamily="34" charset="0"/>
                <a:ea typeface="IBM Plex Sans" pitchFamily="34" charset="-122"/>
                <a:cs typeface="IBM Plex Sans" pitchFamily="34" charset="-120"/>
              </a:rPr>
              <a:t>Techniques beat guesswork: partitions, boundaries, decision tables.</a:t>
            </a:r>
            <a:endParaRPr lang="en-US" sz="1800" dirty="0"/>
          </a:p>
        </p:txBody>
      </p:sp>
      <p:sp>
        <p:nvSpPr>
          <p:cNvPr id="10" name="Text 8"/>
          <p:cNvSpPr/>
          <p:nvPr/>
        </p:nvSpPr>
        <p:spPr>
          <a:xfrm>
            <a:off x="812767" y="3399210"/>
            <a:ext cx="457183"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9863"/>
                </a:solidFill>
                <a:latin typeface="JetBrains Mono" pitchFamily="34" charset="0"/>
                <a:ea typeface="JetBrains Mono" pitchFamily="34" charset="-122"/>
                <a:cs typeface="JetBrains Mono" pitchFamily="34" charset="-120"/>
              </a:rPr>
              <a:t>04</a:t>
            </a:r>
            <a:endParaRPr lang="en-US" sz="1400" dirty="0"/>
          </a:p>
        </p:txBody>
      </p:sp>
      <p:sp>
        <p:nvSpPr>
          <p:cNvPr id="11" name="Text 9"/>
          <p:cNvSpPr/>
          <p:nvPr/>
        </p:nvSpPr>
        <p:spPr>
          <a:xfrm>
            <a:off x="1422342" y="3355107"/>
            <a:ext cx="10255583" cy="32257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6F4EF"/>
                </a:solidFill>
                <a:latin typeface="IBM Plex Sans" pitchFamily="34" charset="0"/>
                <a:ea typeface="IBM Plex Sans" pitchFamily="34" charset="-122"/>
                <a:cs typeface="IBM Plex Sans" pitchFamily="34" charset="-120"/>
              </a:rPr>
              <a:t>Good bug reports and simple metrics turn results into decisions.</a:t>
            </a:r>
            <a:endParaRPr lang="en-US" sz="1800" dirty="0"/>
          </a:p>
        </p:txBody>
      </p:sp>
      <p:sp>
        <p:nvSpPr>
          <p:cNvPr id="12" name="Text 10"/>
          <p:cNvSpPr/>
          <p:nvPr/>
        </p:nvSpPr>
        <p:spPr>
          <a:xfrm>
            <a:off x="812767" y="3874145"/>
            <a:ext cx="457183"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9863"/>
                </a:solidFill>
                <a:latin typeface="JetBrains Mono" pitchFamily="34" charset="0"/>
                <a:ea typeface="JetBrains Mono" pitchFamily="34" charset="-122"/>
                <a:cs typeface="JetBrains Mono" pitchFamily="34" charset="-120"/>
              </a:rPr>
              <a:t>05</a:t>
            </a:r>
            <a:endParaRPr lang="en-US" sz="1400" dirty="0"/>
          </a:p>
        </p:txBody>
      </p:sp>
      <p:sp>
        <p:nvSpPr>
          <p:cNvPr id="13" name="Text 11"/>
          <p:cNvSpPr/>
          <p:nvPr/>
        </p:nvSpPr>
        <p:spPr>
          <a:xfrm>
            <a:off x="1422342" y="3830055"/>
            <a:ext cx="10255583" cy="32257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6F4EF"/>
                </a:solidFill>
                <a:latin typeface="IBM Plex Sans" pitchFamily="34" charset="0"/>
                <a:ea typeface="IBM Plex Sans" pitchFamily="34" charset="-122"/>
                <a:cs typeface="IBM Plex Sans" pitchFamily="34" charset="-120"/>
              </a:rPr>
              <a:t>QA improves the process; QC and testing check the product.</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B8481A"/>
        </a:solidFill>
      </p:bgPr>
    </p:bg>
    <p:spTree>
      <p:nvGrpSpPr>
        <p:cNvPr id="1" name=""/>
        <p:cNvGrpSpPr/>
        <p:nvPr/>
      </p:nvGrpSpPr>
      <p:grpSpPr>
        <a:xfrm>
          <a:off x="0" y="0"/>
          <a:ext cx="0" cy="0"/>
          <a:chOff x="0" y="0"/>
          <a:chExt cx="0" cy="0"/>
        </a:xfrm>
      </p:grpSpPr>
      <p:sp>
        <p:nvSpPr>
          <p:cNvPr id="2" name="Text 0"/>
          <p:cNvSpPr/>
          <p:nvPr/>
        </p:nvSpPr>
        <p:spPr>
          <a:xfrm>
            <a:off x="812767" y="812775"/>
            <a:ext cx="10883445" cy="23875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6F4EF"/>
                </a:solidFill>
                <a:latin typeface="JetBrains Mono" pitchFamily="34" charset="0"/>
                <a:ea typeface="JetBrains Mono" pitchFamily="34" charset="-122"/>
                <a:cs typeface="JetBrains Mono" pitchFamily="34" charset="-120"/>
              </a:rPr>
              <a:t>THANK YOU</a:t>
            </a:r>
            <a:endParaRPr lang="en-US" sz="1200" dirty="0"/>
          </a:p>
        </p:txBody>
      </p:sp>
      <p:sp>
        <p:nvSpPr>
          <p:cNvPr id="3" name="Text 1"/>
          <p:cNvSpPr/>
          <p:nvPr/>
        </p:nvSpPr>
        <p:spPr>
          <a:xfrm>
            <a:off x="812767" y="2607320"/>
            <a:ext cx="10883445" cy="825455"/>
          </a:xfrm>
          <a:prstGeom prst="rect">
            <a:avLst/>
          </a:prstGeom>
          <a:noFill/>
          <a:ln/>
        </p:spPr>
        <p:txBody>
          <a:bodyPr wrap="square" lIns="0" tIns="0" rIns="0" bIns="0" rtlCol="0" anchor="t">
            <a:normAutofit/>
          </a:bodyPr>
          <a:lstStyle/>
          <a:p>
            <a:pPr algn="l" indent="0" marL="0">
              <a:lnSpc>
                <a:spcPts val="6300"/>
              </a:lnSpc>
              <a:buNone/>
            </a:pPr>
            <a:r>
              <a:rPr lang="en-US" sz="6000" b="1" spc="-100" kern="0" dirty="0">
                <a:solidFill>
                  <a:srgbClr val="F6F4EF"/>
                </a:solidFill>
                <a:latin typeface="Space Grotesk" pitchFamily="34" charset="0"/>
                <a:ea typeface="Space Grotesk" pitchFamily="34" charset="-122"/>
                <a:cs typeface="Space Grotesk" pitchFamily="34" charset="-120"/>
              </a:rPr>
              <a:t>Questions and discussion</a:t>
            </a:r>
            <a:endParaRPr lang="en-US" sz="6000" dirty="0"/>
          </a:p>
        </p:txBody>
      </p:sp>
      <p:sp>
        <p:nvSpPr>
          <p:cNvPr id="4" name="Text 2"/>
          <p:cNvSpPr/>
          <p:nvPr/>
        </p:nvSpPr>
        <p:spPr>
          <a:xfrm>
            <a:off x="812767" y="3610570"/>
            <a:ext cx="8502650" cy="665499"/>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6F4EF"/>
                </a:solidFill>
                <a:latin typeface="IBM Plex Sans" pitchFamily="34" charset="0"/>
                <a:ea typeface="IBM Plex Sans" pitchFamily="34" charset="-122"/>
                <a:cs typeface="IBM Plex Sans" pitchFamily="34" charset="-120"/>
              </a:rPr>
              <a:t>Which part of this process does your team do well today, and which part would you strengthen first?</a:t>
            </a:r>
            <a:endParaRPr lang="en-US" sz="1800" dirty="0"/>
          </a:p>
        </p:txBody>
      </p:sp>
      <p:sp>
        <p:nvSpPr>
          <p:cNvPr id="5" name="Text 3"/>
          <p:cNvSpPr/>
          <p:nvPr/>
        </p:nvSpPr>
        <p:spPr>
          <a:xfrm>
            <a:off x="812767" y="5831855"/>
            <a:ext cx="10883445"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[Presenter name] · [Contact email]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Software Testing Process</dc:title>
  <dc:subject>PptxGenJS Presentation</dc:subject>
  <dc:creator>PptxGenJS</dc:creator>
  <cp:lastModifiedBy>PptxGenJS</cp:lastModifiedBy>
  <cp:revision>1</cp:revision>
  <dcterms:created xsi:type="dcterms:W3CDTF">2026-09-28T08:56:03Z</dcterms:created>
  <dcterms:modified xsi:type="dcterms:W3CDTF">2026-09-28T08:56:03Z</dcterms:modified>
</cp:coreProperties>
</file>